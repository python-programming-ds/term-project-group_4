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CB5FB8E-7849-4708-9AE1-45C3869E6F0F}">
  <a:tblStyle styleId="{9CB5FB8E-7849-4708-9AE1-45C3869E6F0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ab84f5c0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ab84f5c0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ab84f5c0f_2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aab84f5c0f_2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ab84f5c0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aab84f5c0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aab84f5c0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aab84f5c0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aab84f5c0f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aab84f5c0f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ab84f5c0f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aab84f5c0f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aab84f5c0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aab84f5c0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aab84f5c0f_1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aab84f5c0f_1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ab84f5c0f_1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aab84f5c0f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ab84f5c0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ab84f5c0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b9958acf0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ab9958acf0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ab84f5c0f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aab84f5c0f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Spatial Inequalities in Emergency Medical Services Response Times in New York City</a:t>
            </a:r>
            <a:endParaRPr b="1" sz="2400"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17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2080"/>
              <a:t>Team Members: Qianchen Yu, Jia Johnson &amp; Yuanseng Choo </a:t>
            </a:r>
            <a:endParaRPr sz="208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and Overview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1" name="Google Shape;61;p14"/>
          <p:cNvPicPr preferRelativeResize="0"/>
          <p:nvPr/>
        </p:nvPicPr>
        <p:blipFill rotWithShape="1">
          <a:blip r:embed="rId3">
            <a:alphaModFix/>
          </a:blip>
          <a:srcRect b="0" l="0" r="48530" t="0"/>
          <a:stretch/>
        </p:blipFill>
        <p:spPr>
          <a:xfrm>
            <a:off x="5861375" y="0"/>
            <a:ext cx="3017521" cy="249639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4"/>
          <p:cNvPicPr preferRelativeResize="0"/>
          <p:nvPr/>
        </p:nvPicPr>
        <p:blipFill rotWithShape="1">
          <a:blip r:embed="rId3">
            <a:alphaModFix/>
          </a:blip>
          <a:srcRect b="0" l="52494" r="0" t="0"/>
          <a:stretch/>
        </p:blipFill>
        <p:spPr>
          <a:xfrm>
            <a:off x="5861375" y="2496386"/>
            <a:ext cx="3017521" cy="2703806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16825" y="1181000"/>
            <a:ext cx="51147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EMS response times are not evenly distributed across NYC.</a:t>
            </a:r>
            <a:br>
              <a:rPr lang="en"/>
            </a:b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Some neighborhoods face both </a:t>
            </a:r>
            <a:r>
              <a:rPr b="1" lang="en">
                <a:solidFill>
                  <a:schemeClr val="accent4"/>
                </a:solidFill>
              </a:rPr>
              <a:t>high</a:t>
            </a:r>
            <a:r>
              <a:rPr lang="en"/>
              <a:t> EMS demand and </a:t>
            </a:r>
            <a:r>
              <a:rPr b="1" lang="en">
                <a:solidFill>
                  <a:schemeClr val="accent4"/>
                </a:solidFill>
              </a:rPr>
              <a:t>slower</a:t>
            </a:r>
            <a:r>
              <a:rPr lang="en"/>
              <a:t> average response.</a:t>
            </a:r>
            <a:endParaRPr/>
          </a:p>
        </p:txBody>
      </p:sp>
      <p:sp>
        <p:nvSpPr>
          <p:cNvPr id="64" name="Google Shape;64;p14"/>
          <p:cNvSpPr txBox="1"/>
          <p:nvPr/>
        </p:nvSpPr>
        <p:spPr>
          <a:xfrm>
            <a:off x="495425" y="3276000"/>
            <a:ext cx="49575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NYC’s social and racial diversity raises concerns about spatial inequality in emergency care.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We combine EMS dispatch and Census data to quantify and explain these inequalities.</a:t>
            </a:r>
            <a:endParaRPr/>
          </a:p>
        </p:txBody>
      </p:sp>
      <p:sp>
        <p:nvSpPr>
          <p:cNvPr id="65" name="Google Shape;65;p14"/>
          <p:cNvSpPr/>
          <p:nvPr/>
        </p:nvSpPr>
        <p:spPr>
          <a:xfrm>
            <a:off x="2635756" y="2471050"/>
            <a:ext cx="388500" cy="7770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Framework</a:t>
            </a:r>
            <a:endParaRPr/>
          </a:p>
        </p:txBody>
      </p:sp>
      <p:pic>
        <p:nvPicPr>
          <p:cNvPr id="71" name="Google Shape;7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6838" y="894975"/>
            <a:ext cx="7110326" cy="22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/>
          <p:nvPr/>
        </p:nvSpPr>
        <p:spPr>
          <a:xfrm>
            <a:off x="500375" y="3112599"/>
            <a:ext cx="8442300" cy="10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/>
              <a:t>RQ1: </a:t>
            </a:r>
            <a:r>
              <a:rPr lang="en" sz="1200"/>
              <a:t>What spatial patterns and clusters of EMS demand and response times emerge across NYC ZIP codes?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/>
              <a:t>RQ2:</a:t>
            </a:r>
            <a:r>
              <a:rPr lang="en" sz="1200"/>
              <a:t> How are slow-response ZIP codes related to neighborhood socioeconomic and racial composition?</a:t>
            </a:r>
            <a:endParaRPr sz="1200"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/>
              <a:t>RQ3: </a:t>
            </a:r>
            <a:r>
              <a:rPr lang="en" sz="1200"/>
              <a:t>To what extent can ML models help predict “slow-response” ZIP codes and identify the most important predictors?</a:t>
            </a:r>
            <a:endParaRPr sz="1200"/>
          </a:p>
        </p:txBody>
      </p:sp>
      <p:sp>
        <p:nvSpPr>
          <p:cNvPr id="73" name="Google Shape;73;p15"/>
          <p:cNvSpPr/>
          <p:nvPr/>
        </p:nvSpPr>
        <p:spPr>
          <a:xfrm>
            <a:off x="4173650" y="3979600"/>
            <a:ext cx="184800" cy="3693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5"/>
          <p:cNvSpPr txBox="1"/>
          <p:nvPr/>
        </p:nvSpPr>
        <p:spPr>
          <a:xfrm>
            <a:off x="500375" y="4348900"/>
            <a:ext cx="7969200" cy="7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Integrate EMS incidents (2019–2024) with ACS 2022 ZIP-code indicators.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Use spatial statistics (Moran’s I, LISA, Gi*) to detect clustered inequalities.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Train and interpret logistic regression and tree-based models to predict slow-response ZIP codes.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Cleaning and Preparation</a:t>
            </a:r>
            <a:endParaRPr/>
          </a:p>
        </p:txBody>
      </p:sp>
      <p:pic>
        <p:nvPicPr>
          <p:cNvPr id="80" name="Google Shape;8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391" y="2374834"/>
            <a:ext cx="8839201" cy="2748229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6"/>
          <p:cNvSpPr txBox="1"/>
          <p:nvPr/>
        </p:nvSpPr>
        <p:spPr>
          <a:xfrm>
            <a:off x="203900" y="927300"/>
            <a:ext cx="89625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Clean EMS dispatch records and aggregate 2019–2024 incidents to ZIP-level call counts and average response times.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Retrieve ACS 2022 ZIP-code socioeconomic indicators and compute key rates (poverty, unemployment, education, renter share, race composition, diversity).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Merge EMS, ACS, and ZIP-code geometries; engineer features (incidents per 1,000 residents, response time per incident, hotspot flag, borough encoding).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Drop leakage and missing columns, then build an 80/20 stratified train–test split and scale predictors for the logistic model.</a:t>
            </a:r>
            <a:endParaRPr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Logistic Regression Model vs. Non-Logistic Models</a:t>
            </a:r>
            <a:endParaRPr/>
          </a:p>
        </p:txBody>
      </p:sp>
      <p:sp>
        <p:nvSpPr>
          <p:cNvPr id="87" name="Google Shape;87;p17"/>
          <p:cNvSpPr txBox="1"/>
          <p:nvPr>
            <p:ph idx="1" type="body"/>
          </p:nvPr>
        </p:nvSpPr>
        <p:spPr>
          <a:xfrm>
            <a:off x="311700" y="1152475"/>
            <a:ext cx="5856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Logistic Model </a:t>
            </a:r>
            <a:endParaRPr/>
          </a:p>
          <a:p>
            <a:pPr indent="-334327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Easily interpretable, works well with smaller datasets, and simply binary outcome to estimate the probability 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y = 1 if AVG_RESPONSE_MIN greater than 10 minutes, else 0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Non-Logistic Model</a:t>
            </a:r>
            <a:endParaRPr/>
          </a:p>
          <a:p>
            <a:pPr indent="-334327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Capture nonlinear relationships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Better suited for mixed socioeconomic, demographic, and spatial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Performance of Logistic Model</a:t>
            </a:r>
            <a:endParaRPr/>
          </a:p>
        </p:txBody>
      </p:sp>
      <p:sp>
        <p:nvSpPr>
          <p:cNvPr id="93" name="Google Shape;93;p18"/>
          <p:cNvSpPr txBox="1"/>
          <p:nvPr>
            <p:ph idx="1" type="body"/>
          </p:nvPr>
        </p:nvSpPr>
        <p:spPr>
          <a:xfrm>
            <a:off x="311700" y="1152475"/>
            <a:ext cx="5915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Performance: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Training AUC: 0.898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Test AUC: 0.853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Confusion Matrix: 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22 True Negatives, 9 True Positives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2 False Positives, 4 False Negatives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ROC Curve: AUC = 0.85 → Model can distinguish fast vs. slow response zones 85% of the time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Performs well, interpretable and avoids overfitting (L1 regularization)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Helpful to identify neighborhoods at risk of slow emergency response time </a:t>
            </a:r>
            <a:endParaRPr/>
          </a:p>
        </p:txBody>
      </p: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1900" y="140500"/>
            <a:ext cx="2420400" cy="243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02575" y="2752175"/>
            <a:ext cx="2129725" cy="2074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Visualization and Results of Logistic Model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771800" y="1332863"/>
            <a:ext cx="4729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Coefficient</a:t>
            </a:r>
            <a:r>
              <a:rPr lang="en"/>
              <a:t> Plot </a:t>
            </a:r>
            <a:endParaRPr/>
          </a:p>
          <a:p>
            <a:pPr indent="-308610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Displays top 20 </a:t>
            </a:r>
            <a:r>
              <a:rPr lang="en"/>
              <a:t>features</a:t>
            </a:r>
            <a:r>
              <a:rPr lang="en"/>
              <a:t> that most affect slow response time </a:t>
            </a:r>
            <a:endParaRPr/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Right side → factors that </a:t>
            </a:r>
            <a:r>
              <a:rPr lang="en"/>
              <a:t>increase</a:t>
            </a:r>
            <a:r>
              <a:rPr lang="en"/>
              <a:t> the probability of slow emergency response </a:t>
            </a:r>
            <a:endParaRPr/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Left side → factors that decrease the probability of slow response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Results: </a:t>
            </a:r>
            <a:endParaRPr/>
          </a:p>
          <a:p>
            <a:pPr indent="-308610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Higher percentages of multiracial residents, renter rate and </a:t>
            </a:r>
            <a:r>
              <a:rPr lang="en"/>
              <a:t>neighborhood</a:t>
            </a:r>
            <a:r>
              <a:rPr lang="en"/>
              <a:t> diversity, and graduate degree rate tend to increase the probability of risk of slow response </a:t>
            </a:r>
            <a:endParaRPr/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Higher median gross, percentage of white residents and more total households decrease the risk of slow response </a:t>
            </a:r>
            <a:endParaRPr/>
          </a:p>
        </p:txBody>
      </p:sp>
      <p:pic>
        <p:nvPicPr>
          <p:cNvPr id="102" name="Google Shape;10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200" y="1130588"/>
            <a:ext cx="3049061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type="title"/>
          </p:nvPr>
        </p:nvSpPr>
        <p:spPr>
          <a:xfrm>
            <a:off x="283500" y="163825"/>
            <a:ext cx="6060900" cy="9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Non-Logistic Model (GradientBoostingClassifier)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20"/>
          <p:cNvSpPr txBox="1"/>
          <p:nvPr>
            <p:ph idx="1" type="body"/>
          </p:nvPr>
        </p:nvSpPr>
        <p:spPr>
          <a:xfrm>
            <a:off x="311700" y="1271900"/>
            <a:ext cx="6004500" cy="329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Performance: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Training AUC: 1.0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Test AUC: 0.907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Confusion Matrix: 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22 True Negatives, 8 True Positives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2 False Positives, 5 False Negatives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ROC Curve: AUC = 0.91 → Model can distinguish fast vs. slow response zones 91% of the time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Delivers strong predictive accuracy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Captures complex, nonlinear patterns and feature interactions</a:t>
            </a:r>
            <a:endParaRPr/>
          </a:p>
        </p:txBody>
      </p:sp>
      <p:pic>
        <p:nvPicPr>
          <p:cNvPr id="109" name="Google Shape;10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6275" y="133875"/>
            <a:ext cx="2459275" cy="233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80624" y="2465025"/>
            <a:ext cx="2294925" cy="2314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204725"/>
            <a:ext cx="5012700" cy="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Non-Logistic Regression (Random Forest Classifier)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1"/>
          <p:cNvSpPr txBox="1"/>
          <p:nvPr>
            <p:ph idx="1" type="body"/>
          </p:nvPr>
        </p:nvSpPr>
        <p:spPr>
          <a:xfrm>
            <a:off x="311700" y="1374150"/>
            <a:ext cx="5989200" cy="338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Performance: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Training AUC: 1.0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Test AUC: 0.853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Confusion Matrix: 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22 True Negatives, 8 True Positives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2 False Positives, 5 False Negatives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ROC Curve: AUC = 0.85 → Model can distinguish fast vs. slow response zones 85% of the time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Robust and stable performance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Handles high-dimensional datasets</a:t>
            </a:r>
            <a:endParaRPr/>
          </a:p>
        </p:txBody>
      </p:sp>
      <p:pic>
        <p:nvPicPr>
          <p:cNvPr id="117" name="Google Shape;1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00900" y="91425"/>
            <a:ext cx="2449825" cy="244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72525" y="2571750"/>
            <a:ext cx="2378250" cy="24039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Visualization and Results of Non-Logistic Model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22"/>
          <p:cNvSpPr txBox="1"/>
          <p:nvPr>
            <p:ph idx="1" type="body"/>
          </p:nvPr>
        </p:nvSpPr>
        <p:spPr>
          <a:xfrm>
            <a:off x="4690375" y="1152475"/>
            <a:ext cx="4141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Race and ethnicity variables (pct_asian, pct_black, pct_other_race, pct_hispanic) are the strongest predictors of delayed EMS response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GBM and Random Forest agree on the general ranking, but GBM distributes importance across more features, while Random Forest emphasizes a few predictors more strongly (e.g., pct_asian, pct_black).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 complex mix of socioeconomic, demographic, and geographic factors</a:t>
            </a:r>
            <a:endParaRPr sz="1400"/>
          </a:p>
        </p:txBody>
      </p:sp>
      <p:pic>
        <p:nvPicPr>
          <p:cNvPr id="125" name="Google Shape;12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141800"/>
            <a:ext cx="4291775" cy="3269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623400" y="2769875"/>
            <a:ext cx="7863000" cy="19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Gradient Boosting Classifier has the highest test AUC, but both tree-based models showed signs of overfitting. But, GBM generalization is still strong.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logistic </a:t>
            </a:r>
            <a:r>
              <a:rPr lang="en"/>
              <a:t>regression</a:t>
            </a:r>
            <a:r>
              <a:rPr lang="en"/>
              <a:t> offers a strong performance nad has a lower overfitting risk and clearer </a:t>
            </a:r>
            <a:r>
              <a:rPr lang="en"/>
              <a:t>interpretation. </a:t>
            </a:r>
            <a:endParaRPr/>
          </a:p>
        </p:txBody>
      </p:sp>
      <p:graphicFrame>
        <p:nvGraphicFramePr>
          <p:cNvPr id="132" name="Google Shape;132;p23"/>
          <p:cNvGraphicFramePr/>
          <p:nvPr/>
        </p:nvGraphicFramePr>
        <p:xfrm>
          <a:off x="623400" y="11363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{9CB5FB8E-7849-4708-9AE1-45C3869E6F0F}</a:tableStyleId>
              </a:tblPr>
              <a:tblGrid>
                <a:gridCol w="2080175"/>
                <a:gridCol w="2080175"/>
                <a:gridCol w="2080175"/>
                <a:gridCol w="2080175"/>
              </a:tblGrid>
              <a:tr h="321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Logistic Regression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Gradient Boosting Classifier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Random Forest Classifier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9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AUC for Training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0.898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1.00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1.00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209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AUC for Testing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0.853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0.907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0.850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48500" y="1341588"/>
            <a:ext cx="3860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EMS demand and response times are</a:t>
            </a:r>
            <a:r>
              <a:rPr lang="en" sz="1100">
                <a:solidFill>
                  <a:schemeClr val="accent4"/>
                </a:solidFill>
              </a:rPr>
              <a:t> </a:t>
            </a:r>
            <a:r>
              <a:rPr b="1" lang="en" sz="1100">
                <a:solidFill>
                  <a:schemeClr val="accent4"/>
                </a:solidFill>
              </a:rPr>
              <a:t>strongly clustered in space</a:t>
            </a:r>
            <a:r>
              <a:rPr lang="en" sz="1100">
                <a:solidFill>
                  <a:schemeClr val="dk1"/>
                </a:solidFill>
              </a:rPr>
              <a:t>, rather than randomly distributed across NYC ZIP codes.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Spatial statistics (Moran’s I and LISA) show </a:t>
            </a:r>
            <a:r>
              <a:rPr b="1" lang="en" sz="1100">
                <a:solidFill>
                  <a:schemeClr val="accent4"/>
                </a:solidFill>
              </a:rPr>
              <a:t>clear high–high clusters</a:t>
            </a:r>
            <a:r>
              <a:rPr lang="en" sz="1100">
                <a:solidFill>
                  <a:schemeClr val="dk1"/>
                </a:solidFill>
              </a:rPr>
              <a:t> for both slow response times and socioeconomic disadvantage (e.g., poverty, unemployment).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Across models, </a:t>
            </a:r>
            <a:r>
              <a:rPr b="1" lang="en" sz="1100">
                <a:solidFill>
                  <a:schemeClr val="accent4"/>
                </a:solidFill>
              </a:rPr>
              <a:t>neighborhood context matters</a:t>
            </a:r>
            <a:r>
              <a:rPr lang="en" sz="1100">
                <a:solidFill>
                  <a:schemeClr val="dk1"/>
                </a:solidFill>
              </a:rPr>
              <a:t>: ZIP codes with higher poverty, higher renter share, and more racially diverse populations are more likely to be classified as “slow-response” areas (&gt;10 minutes).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Machine-learning models predict slow-response ZIP codes with </a:t>
            </a:r>
            <a:r>
              <a:rPr b="1" lang="en" sz="1100">
                <a:solidFill>
                  <a:schemeClr val="dk1"/>
                </a:solidFill>
              </a:rPr>
              <a:t>strong out-of-sample performance</a:t>
            </a:r>
            <a:r>
              <a:rPr lang="en" sz="1100">
                <a:solidFill>
                  <a:schemeClr val="dk1"/>
                </a:solidFill>
              </a:rPr>
              <a:t> (Logistic/RF AUC ≈ 0.85, Gradient Boosting AUC ≈ 0.91), confirming that these inequalities are systematic and measurable.</a:t>
            </a:r>
            <a:endParaRPr/>
          </a:p>
        </p:txBody>
      </p:sp>
      <p:pic>
        <p:nvPicPr>
          <p:cNvPr id="139" name="Google Shape;139;p24"/>
          <p:cNvPicPr preferRelativeResize="0"/>
          <p:nvPr/>
        </p:nvPicPr>
        <p:blipFill rotWithShape="1">
          <a:blip r:embed="rId3">
            <a:alphaModFix/>
          </a:blip>
          <a:srcRect b="54417" l="0" r="0" t="4222"/>
          <a:stretch/>
        </p:blipFill>
        <p:spPr>
          <a:xfrm>
            <a:off x="4172100" y="2442725"/>
            <a:ext cx="4920599" cy="1214126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4"/>
          <p:cNvSpPr txBox="1"/>
          <p:nvPr/>
        </p:nvSpPr>
        <p:spPr>
          <a:xfrm>
            <a:off x="5487225" y="206450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Top 10 Feature Importance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41" name="Google Shape;141;p24"/>
          <p:cNvPicPr preferRelativeResize="0"/>
          <p:nvPr/>
        </p:nvPicPr>
        <p:blipFill rotWithShape="1">
          <a:blip r:embed="rId3">
            <a:alphaModFix/>
          </a:blip>
          <a:srcRect b="10155" l="82742" r="1379" t="78483"/>
          <a:stretch/>
        </p:blipFill>
        <p:spPr>
          <a:xfrm>
            <a:off x="8228925" y="3266850"/>
            <a:ext cx="603374" cy="2575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 txBox="1"/>
          <p:nvPr/>
        </p:nvSpPr>
        <p:spPr>
          <a:xfrm>
            <a:off x="2312050" y="445025"/>
            <a:ext cx="6694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200">
                <a:solidFill>
                  <a:schemeClr val="accent4"/>
                </a:solidFill>
              </a:rPr>
              <a:t>Neighborhood race, housing, and poverty metrics predict slow EMS response more strongly than demand volume alone.</a:t>
            </a:r>
            <a:endParaRPr b="1" i="1" sz="1200"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5"/>
          <p:cNvSpPr txBox="1"/>
          <p:nvPr>
            <p:ph type="title"/>
          </p:nvPr>
        </p:nvSpPr>
        <p:spPr>
          <a:xfrm>
            <a:off x="1268300" y="1017725"/>
            <a:ext cx="6987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200">
                <a:solidFill>
                  <a:schemeClr val="accent4"/>
                </a:solidFill>
              </a:rPr>
              <a:t>Predictive risk scores + social vulnerability maps = a clear playbook for EMS equity targeting.</a:t>
            </a:r>
            <a:endParaRPr b="1" i="1" sz="1200">
              <a:solidFill>
                <a:schemeClr val="accent4"/>
              </a:solidFill>
            </a:endParaRPr>
          </a:p>
        </p:txBody>
      </p:sp>
      <p:sp>
        <p:nvSpPr>
          <p:cNvPr id="148" name="Google Shape;148;p25"/>
          <p:cNvSpPr txBox="1"/>
          <p:nvPr>
            <p:ph idx="1" type="body"/>
          </p:nvPr>
        </p:nvSpPr>
        <p:spPr>
          <a:xfrm>
            <a:off x="311700" y="2028100"/>
            <a:ext cx="3360000" cy="214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Prioritize high-risk, high-need neighborhoods.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Build equity metrics into EMS performance dashboards.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Inform strategic planning and scenario analysis.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Support cross-agency interventions.</a:t>
            </a:r>
            <a:endParaRPr sz="1200"/>
          </a:p>
        </p:txBody>
      </p:sp>
      <p:pic>
        <p:nvPicPr>
          <p:cNvPr id="149" name="Google Shape;14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02450" y="2273750"/>
            <a:ext cx="3875625" cy="2946675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 txBox="1"/>
          <p:nvPr/>
        </p:nvSpPr>
        <p:spPr>
          <a:xfrm>
            <a:off x="5473225" y="190445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Risk × Vulnerability Quadrant Scatter</a:t>
            </a:r>
            <a:endParaRPr sz="1200"/>
          </a:p>
        </p:txBody>
      </p:sp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interpretation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
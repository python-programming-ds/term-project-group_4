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7E4627-9E64-42ED-ADCF-0A0A92703085}">
  <a:tblStyle styleId="{427E4627-9E64-42ED-ADCF-0A0A9270308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We focus on a simple but important question: when someone calls 911 in New York City, does the ambulance arrive equally fast in every neighborhood, or are some places systematically left behind?</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To answer this, we combine EMS dispatch records with Census data, and we look at spatial patterns, social inequalities, and predictive models. I’ll first give you some context and then walk through our research framework and data pipeline.”</a:t>
            </a:r>
            <a:endParaRPr i="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ab84f5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ab84f5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“Let me start with a quick overview of the problem and the data.</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First, EMS response times are not evenly distributed across New York City. If we look at the map on the top right, we see that incident volume is highly concentrated in a few ZIP codes, especially in parts of the Bronx and northern Manhattan. And if we look at the map on the bottom right, average response times also vary a lot across space, with some areas consistently above ten minutes.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So some neighborhoods face both high EMS demand and slower average response. That means they are calling more often, and they are waiting longer. This is not just a workload issue; it also raises concerns about equity and access to timely emergency care.</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However, New York City is also extremely diverse in terms of race, income, housing, and health needs. Therefore, we ask whether these spatial differences in response times might be linked to neighborhood socioeconomic and racial composition, rather than just random variation or pure chance.</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In this project, we combine several years of EMS dispatch data with 2022 ACS ZIP-code indicators. That allows us to quantify where the inequalities are, and to explain which neighborhood characteristics are most strongly associated with slow EMS response.”</a:t>
            </a:r>
            <a:endParaRPr i="1" sz="1400">
              <a:solidFill>
                <a:schemeClr val="dk1"/>
              </a:solidFill>
            </a:endParaRPr>
          </a:p>
          <a:p>
            <a:pPr indent="0" lvl="0" marL="0" rtl="0" algn="l">
              <a:spcBef>
                <a:spcPts val="1200"/>
              </a:spcBef>
              <a:spcAft>
                <a:spcPts val="0"/>
              </a:spcAft>
              <a:buNone/>
            </a:pPr>
            <a:r>
              <a:t/>
            </a:r>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ab84f5c0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ab84f5c0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“Given that motivation, our work is structured around three research questions.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RQ1 asks: what spatial patterns and clusters of EMS demand and response times emerge across NYC ZIP codes? In other words, are high-demand and slow-response areas randomly scattered, or do they form clear clusters on the map? The three LISA cluster maps at the top show clusters for incident counts, average response time, and poverty rate. We use these to visually and statistically identify high–high and low–low neighborhoods.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RQ2 then asks: how are slow-response ZIP codes related to neighborhood socioeconomic and racial composition? Here, we move from description to explanation. We want to know whether slow-response areas are more likely to have higher poverty, higher renter share, or particular racial and ethnic profiles, after we control for overall demand.</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Finally, RQ3 asks: to what extent can machine learning models help predict “slow-response” ZIP codes and identify the most important predictors? This question is about prediction and prioritization. If we can reliably predict where slow responses are most likely to occur, then agencies can use those predictions to target resources and monitor equity.</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To answer these questions, we integrate EMS incidents with ACS 2022 ZIP-code variables, and we attach ZIP-code geometries for spatial analysis. We use spatial statistics such as Moran’s I and LISA to detect clustered inequalities, and then we train and interpret both logistic regression and tree-based models to predict slow-response ZIP codes and to study the relative importance of different features.”</a:t>
            </a:r>
            <a:endParaRPr i="1" sz="14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ab84f5c0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ab84f5c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“Before modeling, we spent a fair amount of effort on data cleaning and feature engineering.</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On the EMS side, we clean the dispatch records and aggregate incidents from 2019 to 2024 to the ZIP-code level. For each ZIP code, we compute total call counts and the average response time. That distribution is shown in the histogram on the left. Most ZIP codes fall between about eight and eleven minutes, and the red dashed line marks the mean response time, which is roughly 9.7 minutes. This distribution also motivates our later threshold of ten minutes for defining “slow-response” ZIP codes.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On the Census side, we retrieve ACS 2022 ZIP-code indicators and compute key rates such as poverty, unemployment, educational attainment, renter share, and race composition, as well as a diversity index. We then merge the EMS data, the ACS data, and ZIP-code geometries into a single dataset, and we engineer additional features like incidents per 1,000 residents, response time per incident, hotspot flags, and borough encoding.</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The boxplot on the right compares average response times across boroughs. We can see that the Bronx tends to have higher response times, while Staten Island and parts of Queens are generally lower. This already suggests spatial inequality at the borough level, and it also reinforces the need to control for borough and other contextual factors in our models.</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sz="1400">
                <a:solidFill>
                  <a:schemeClr val="dk1"/>
                </a:solidFill>
              </a:rPr>
              <a:t>Finally, we drop leakage variables and rows with missing values, and we build an 80/20 stratified train–test split. We also scale predictors for the logistic regression. Therefore, by the time we move to the modeling section, we have a clean, spatially linked dataset that is ready for both interpretive and predictive analysis.”</a:t>
            </a:r>
            <a:endParaRPr i="1" sz="14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c648a6e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c648a6e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ab84f5c0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ab84f5c0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ab84f5c0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ab84f5c0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ab84f5c0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ab84f5c0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ab84f5c0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ab84f5c0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ab84f5c0f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ab84f5c0f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ab84f5c0f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ab84f5c0f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ab84f5c0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ab84f5c0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b9958acf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b9958acf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ab84f5c0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ab84f5c0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far we have treated this as a statistical and modeling problem, </a:t>
            </a:r>
            <a:r>
              <a:rPr b="1" lang="en">
                <a:solidFill>
                  <a:schemeClr val="dk1"/>
                </a:solidFill>
              </a:rPr>
              <a:t>and</a:t>
            </a:r>
            <a:r>
              <a:rPr lang="en">
                <a:solidFill>
                  <a:schemeClr val="dk1"/>
                </a:solidFill>
              </a:rPr>
              <a:t> the models tell us that slow EMS response is both predictable and unequal across neighborhoods.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On this slide, we shift to a business and policy perspective.</a:t>
            </a:r>
            <a:r>
              <a:rPr lang="en">
                <a:solidFill>
                  <a:schemeClr val="dk1"/>
                </a:solidFill>
              </a:rPr>
              <a:t> The scatterplot on the right puts our results into a simple decision space. The horizontal axis shows the </a:t>
            </a:r>
            <a:r>
              <a:rPr b="1" lang="en">
                <a:solidFill>
                  <a:schemeClr val="dk1"/>
                </a:solidFill>
              </a:rPr>
              <a:t>predicted probability of slow response</a:t>
            </a:r>
            <a:r>
              <a:rPr lang="en">
                <a:solidFill>
                  <a:schemeClr val="dk1"/>
                </a:solidFill>
              </a:rPr>
              <a:t> from our Gradient Boosting model. The vertical axis shows a </a:t>
            </a:r>
            <a:r>
              <a:rPr b="1" lang="en">
                <a:solidFill>
                  <a:schemeClr val="dk1"/>
                </a:solidFill>
              </a:rPr>
              <a:t>social vulnerability index</a:t>
            </a:r>
            <a:r>
              <a:rPr lang="en">
                <a:solidFill>
                  <a:schemeClr val="dk1"/>
                </a:solidFill>
              </a:rPr>
              <a:t> that averages poverty, renter share, and unemployment. Each dot is a ZIP code.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draw one vertical line and one horizontal line at the median values, </a:t>
            </a:r>
            <a:r>
              <a:rPr b="1" lang="en">
                <a:solidFill>
                  <a:schemeClr val="dk1"/>
                </a:solidFill>
              </a:rPr>
              <a:t>and</a:t>
            </a:r>
            <a:r>
              <a:rPr lang="en">
                <a:solidFill>
                  <a:schemeClr val="dk1"/>
                </a:solidFill>
              </a:rPr>
              <a:t> that divides the city into four groups. ZIP codes in the upper-right quadrant have </a:t>
            </a:r>
            <a:r>
              <a:rPr b="1" lang="en">
                <a:solidFill>
                  <a:schemeClr val="dk1"/>
                </a:solidFill>
              </a:rPr>
              <a:t>both</a:t>
            </a:r>
            <a:r>
              <a:rPr lang="en">
                <a:solidFill>
                  <a:schemeClr val="dk1"/>
                </a:solidFill>
              </a:rPr>
              <a:t> high predicted risk and high vulnerability. These are the </a:t>
            </a:r>
            <a:r>
              <a:rPr b="1" lang="en">
                <a:solidFill>
                  <a:schemeClr val="dk1"/>
                </a:solidFill>
              </a:rPr>
              <a:t>Priority 1 neighborhoods</a:t>
            </a:r>
            <a:r>
              <a:rPr lang="en">
                <a:solidFill>
                  <a:schemeClr val="dk1"/>
                </a:solidFill>
              </a:rPr>
              <a:t> in our framework. ZIP codes in the lower-right quadrant have high risk but lower vulnerability, so they look more like operational hotspots. In contrast, the upper-left quadrant has lower predicted risk but high vulnerability, which suggests places we may want to monitor, in case service gaps grow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However, the key point is not the exact cutoffs.</a:t>
            </a:r>
            <a:r>
              <a:rPr lang="en">
                <a:solidFill>
                  <a:schemeClr val="dk1"/>
                </a:solidFill>
              </a:rPr>
              <a:t> The key point is that we can move from a long list of ZIP codes to a small set of clearly defined groups, using data that the city already collects. This gives managers a transparent way to explain why some neighborhoods should be first in line for extra units, new posts, or pilot interventions.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Therefore, our main recommendation is to link these risk scores with routine planning and reporting.</a:t>
            </a:r>
            <a:r>
              <a:rPr lang="en">
                <a:solidFill>
                  <a:schemeClr val="dk1"/>
                </a:solidFill>
              </a:rPr>
              <a:t> First, agencies can prioritize high-risk, high-vulnerability ZIP codes when they allocate new resources or redesign coverage. Second, they can build equity metrics into EMS dashboards, by tracking the share of calls over ten minutes in each quadrant. Third, they can use this risk–vulnerability map as a starting point for scenario analysis and cross-agency work, combining it with public health or planning data to coordinate broader investments.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1300"/>
              </a:spcBef>
              <a:spcAft>
                <a:spcPts val="0"/>
              </a:spcAft>
              <a:buClr>
                <a:schemeClr val="dk1"/>
              </a:buClr>
              <a:buSzPts val="1100"/>
              <a:buFont typeface="Arial"/>
              <a:buNone/>
            </a:pPr>
            <a:r>
              <a:rPr b="1" lang="en" sz="2400">
                <a:highlight>
                  <a:srgbClr val="FFFFFF"/>
                </a:highlight>
                <a:latin typeface="Times New Roman"/>
                <a:ea typeface="Times New Roman"/>
                <a:cs typeface="Times New Roman"/>
                <a:sym typeface="Times New Roman"/>
              </a:rPr>
              <a:t>Spatial Inequalities in Emergency Medical Services Response Times in New York City</a:t>
            </a:r>
            <a:endParaRPr b="1" sz="2400">
              <a:highlight>
                <a:srgbClr val="FFFFFF"/>
              </a:highlight>
              <a:latin typeface="Times New Roman"/>
              <a:ea typeface="Times New Roman"/>
              <a:cs typeface="Times New Roman"/>
              <a:sym typeface="Times New Roman"/>
            </a:endParaRPr>
          </a:p>
          <a:p>
            <a:pPr indent="0" lvl="0" marL="0" rtl="0" algn="ctr">
              <a:spcBef>
                <a:spcPts val="170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35"/>
              <a:buNone/>
            </a:pPr>
            <a:r>
              <a:rPr lang="en" sz="2080"/>
              <a:t>Team Members: Qianchen Yu, Jia Johnson &amp; Yuanseng Choo </a:t>
            </a:r>
            <a:endParaRPr sz="20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and Overview</a:t>
            </a:r>
            <a:endParaRPr/>
          </a:p>
          <a:p>
            <a:pPr indent="0" lvl="0" marL="0" rtl="0" algn="l">
              <a:spcBef>
                <a:spcPts val="0"/>
              </a:spcBef>
              <a:spcAft>
                <a:spcPts val="0"/>
              </a:spcAft>
              <a:buNone/>
            </a:pPr>
            <a:r>
              <a:t/>
            </a:r>
            <a:endParaRPr/>
          </a:p>
        </p:txBody>
      </p:sp>
      <p:pic>
        <p:nvPicPr>
          <p:cNvPr id="61" name="Google Shape;61;p14"/>
          <p:cNvPicPr preferRelativeResize="0"/>
          <p:nvPr/>
        </p:nvPicPr>
        <p:blipFill rotWithShape="1">
          <a:blip r:embed="rId3">
            <a:alphaModFix/>
          </a:blip>
          <a:srcRect b="0" l="0" r="48530" t="0"/>
          <a:stretch/>
        </p:blipFill>
        <p:spPr>
          <a:xfrm>
            <a:off x="5861375" y="0"/>
            <a:ext cx="3017521" cy="2496390"/>
          </a:xfrm>
          <a:prstGeom prst="rect">
            <a:avLst/>
          </a:prstGeom>
          <a:noFill/>
          <a:ln>
            <a:noFill/>
          </a:ln>
        </p:spPr>
      </p:pic>
      <p:pic>
        <p:nvPicPr>
          <p:cNvPr id="62" name="Google Shape;62;p14"/>
          <p:cNvPicPr preferRelativeResize="0"/>
          <p:nvPr/>
        </p:nvPicPr>
        <p:blipFill rotWithShape="1">
          <a:blip r:embed="rId3">
            <a:alphaModFix/>
          </a:blip>
          <a:srcRect b="0" l="52494" r="0" t="0"/>
          <a:stretch/>
        </p:blipFill>
        <p:spPr>
          <a:xfrm>
            <a:off x="5861375" y="2496386"/>
            <a:ext cx="3017521" cy="2703806"/>
          </a:xfrm>
          <a:prstGeom prst="rect">
            <a:avLst/>
          </a:prstGeom>
          <a:noFill/>
          <a:ln>
            <a:noFill/>
          </a:ln>
        </p:spPr>
      </p:pic>
      <p:sp>
        <p:nvSpPr>
          <p:cNvPr id="63" name="Google Shape;63;p14"/>
          <p:cNvSpPr txBox="1"/>
          <p:nvPr/>
        </p:nvSpPr>
        <p:spPr>
          <a:xfrm>
            <a:off x="416825" y="1181000"/>
            <a:ext cx="51147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EMS response times are not evenly distributed across NYC.</a:t>
            </a:r>
            <a:br>
              <a:rPr lang="en"/>
            </a:br>
            <a:endParaRPr/>
          </a:p>
          <a:p>
            <a:pPr indent="-317500" lvl="0" marL="457200" rtl="0" algn="l">
              <a:spcBef>
                <a:spcPts val="0"/>
              </a:spcBef>
              <a:spcAft>
                <a:spcPts val="0"/>
              </a:spcAft>
              <a:buSzPts val="1400"/>
              <a:buChar char="●"/>
            </a:pPr>
            <a:r>
              <a:rPr lang="en"/>
              <a:t>Some neighborhoods face both </a:t>
            </a:r>
            <a:r>
              <a:rPr b="1" lang="en">
                <a:solidFill>
                  <a:schemeClr val="accent4"/>
                </a:solidFill>
              </a:rPr>
              <a:t>high</a:t>
            </a:r>
            <a:r>
              <a:rPr lang="en"/>
              <a:t> EMS demand and </a:t>
            </a:r>
            <a:r>
              <a:rPr b="1" lang="en">
                <a:solidFill>
                  <a:schemeClr val="accent4"/>
                </a:solidFill>
              </a:rPr>
              <a:t>slower</a:t>
            </a:r>
            <a:r>
              <a:rPr lang="en"/>
              <a:t> average response.</a:t>
            </a:r>
            <a:endParaRPr/>
          </a:p>
        </p:txBody>
      </p:sp>
      <p:sp>
        <p:nvSpPr>
          <p:cNvPr id="64" name="Google Shape;64;p14"/>
          <p:cNvSpPr txBox="1"/>
          <p:nvPr/>
        </p:nvSpPr>
        <p:spPr>
          <a:xfrm>
            <a:off x="495425" y="3276000"/>
            <a:ext cx="49575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en">
                <a:solidFill>
                  <a:schemeClr val="dk1"/>
                </a:solidFill>
              </a:rPr>
              <a:t>NYC’s social and racial diversity raises concerns about spatial inequality in emergency care.</a:t>
            </a:r>
            <a:br>
              <a:rPr lang="en">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We combine EMS dispatch and Census data to quantify and explain these inequalities.</a:t>
            </a:r>
            <a:endParaRPr/>
          </a:p>
        </p:txBody>
      </p:sp>
      <p:sp>
        <p:nvSpPr>
          <p:cNvPr id="65" name="Google Shape;65;p14"/>
          <p:cNvSpPr/>
          <p:nvPr/>
        </p:nvSpPr>
        <p:spPr>
          <a:xfrm>
            <a:off x="2635756" y="2471050"/>
            <a:ext cx="388500" cy="777000"/>
          </a:xfrm>
          <a:prstGeom prst="downArrow">
            <a:avLst>
              <a:gd fmla="val 50000" name="adj1"/>
              <a:gd fmla="val 50000" name="adj2"/>
            </a:avLst>
          </a:prstGeom>
          <a:solidFill>
            <a:schemeClr val="lt2"/>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Framework</a:t>
            </a:r>
            <a:endParaRPr/>
          </a:p>
        </p:txBody>
      </p:sp>
      <p:pic>
        <p:nvPicPr>
          <p:cNvPr id="71" name="Google Shape;71;p15"/>
          <p:cNvPicPr preferRelativeResize="0"/>
          <p:nvPr/>
        </p:nvPicPr>
        <p:blipFill>
          <a:blip r:embed="rId3">
            <a:alphaModFix/>
          </a:blip>
          <a:stretch>
            <a:fillRect/>
          </a:stretch>
        </p:blipFill>
        <p:spPr>
          <a:xfrm>
            <a:off x="1016838" y="894975"/>
            <a:ext cx="7110326" cy="2217625"/>
          </a:xfrm>
          <a:prstGeom prst="rect">
            <a:avLst/>
          </a:prstGeom>
          <a:noFill/>
          <a:ln>
            <a:noFill/>
          </a:ln>
        </p:spPr>
      </p:pic>
      <p:sp>
        <p:nvSpPr>
          <p:cNvPr id="72" name="Google Shape;72;p15"/>
          <p:cNvSpPr txBox="1"/>
          <p:nvPr/>
        </p:nvSpPr>
        <p:spPr>
          <a:xfrm>
            <a:off x="500375" y="3112599"/>
            <a:ext cx="8442300" cy="1006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Char char="●"/>
            </a:pPr>
            <a:r>
              <a:rPr b="1" lang="en" sz="1200"/>
              <a:t>RQ1: </a:t>
            </a:r>
            <a:r>
              <a:rPr lang="en" sz="1200"/>
              <a:t>What spatial patterns and clusters of EMS demand and response times emerge across NYC ZIP codes?</a:t>
            </a:r>
            <a:endParaRPr sz="1200"/>
          </a:p>
          <a:p>
            <a:pPr indent="-304800" lvl="0" marL="457200" rtl="0" algn="l">
              <a:lnSpc>
                <a:spcPct val="115000"/>
              </a:lnSpc>
              <a:spcBef>
                <a:spcPts val="0"/>
              </a:spcBef>
              <a:spcAft>
                <a:spcPts val="0"/>
              </a:spcAft>
              <a:buClr>
                <a:schemeClr val="dk1"/>
              </a:buClr>
              <a:buSzPts val="1200"/>
              <a:buChar char="●"/>
            </a:pPr>
            <a:r>
              <a:rPr b="1" lang="en" sz="1200"/>
              <a:t>RQ2:</a:t>
            </a:r>
            <a:r>
              <a:rPr lang="en" sz="1200"/>
              <a:t> How are slow-response ZIP codes related to neighborhood socioeconomic and racial composition?</a:t>
            </a:r>
            <a:endParaRPr sz="1200"/>
          </a:p>
          <a:p>
            <a:pPr indent="-304800" lvl="0" marL="457200" rtl="0" algn="l">
              <a:lnSpc>
                <a:spcPct val="115000"/>
              </a:lnSpc>
              <a:spcBef>
                <a:spcPts val="0"/>
              </a:spcBef>
              <a:spcAft>
                <a:spcPts val="0"/>
              </a:spcAft>
              <a:buClr>
                <a:schemeClr val="dk1"/>
              </a:buClr>
              <a:buSzPts val="1200"/>
              <a:buChar char="●"/>
            </a:pPr>
            <a:r>
              <a:rPr b="1" lang="en" sz="1200"/>
              <a:t>RQ3: </a:t>
            </a:r>
            <a:r>
              <a:rPr lang="en" sz="1200"/>
              <a:t>To what extent can ML models help predict “slow-response” ZIP codes and identify the most important predictors?</a:t>
            </a:r>
            <a:endParaRPr sz="1200"/>
          </a:p>
        </p:txBody>
      </p:sp>
      <p:sp>
        <p:nvSpPr>
          <p:cNvPr id="73" name="Google Shape;73;p15"/>
          <p:cNvSpPr/>
          <p:nvPr/>
        </p:nvSpPr>
        <p:spPr>
          <a:xfrm>
            <a:off x="4173650" y="3979600"/>
            <a:ext cx="184800" cy="369300"/>
          </a:xfrm>
          <a:prstGeom prst="downArrow">
            <a:avLst>
              <a:gd fmla="val 50000" name="adj1"/>
              <a:gd fmla="val 50000" name="adj2"/>
            </a:avLst>
          </a:prstGeom>
          <a:solidFill>
            <a:schemeClr val="lt2"/>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5"/>
          <p:cNvSpPr txBox="1"/>
          <p:nvPr/>
        </p:nvSpPr>
        <p:spPr>
          <a:xfrm>
            <a:off x="500375" y="4348900"/>
            <a:ext cx="79692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Char char="●"/>
            </a:pPr>
            <a:r>
              <a:rPr lang="en" sz="1200">
                <a:solidFill>
                  <a:schemeClr val="dk1"/>
                </a:solidFill>
              </a:rPr>
              <a:t>Integrate EMS incidents (2019–2024) with ACS 2022 ZIP-code indicators.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Use spatial statistics (Moran’s I, LISA, Gi*) to detect clustered inequalities.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Train and interpret logistic regression and tree-based models to predict slow-response ZIP codes.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Cleaning and Preparation</a:t>
            </a:r>
            <a:endParaRPr/>
          </a:p>
        </p:txBody>
      </p:sp>
      <p:pic>
        <p:nvPicPr>
          <p:cNvPr id="80" name="Google Shape;80;p16"/>
          <p:cNvPicPr preferRelativeResize="0"/>
          <p:nvPr/>
        </p:nvPicPr>
        <p:blipFill>
          <a:blip r:embed="rId3">
            <a:alphaModFix/>
          </a:blip>
          <a:stretch>
            <a:fillRect/>
          </a:stretch>
        </p:blipFill>
        <p:spPr>
          <a:xfrm>
            <a:off x="152391" y="2374834"/>
            <a:ext cx="8839201" cy="2748229"/>
          </a:xfrm>
          <a:prstGeom prst="rect">
            <a:avLst/>
          </a:prstGeom>
          <a:noFill/>
          <a:ln>
            <a:noFill/>
          </a:ln>
        </p:spPr>
      </p:pic>
      <p:sp>
        <p:nvSpPr>
          <p:cNvPr id="81" name="Google Shape;81;p16"/>
          <p:cNvSpPr txBox="1"/>
          <p:nvPr/>
        </p:nvSpPr>
        <p:spPr>
          <a:xfrm>
            <a:off x="203900" y="927300"/>
            <a:ext cx="8962500" cy="12930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Clean EMS dispatch records and aggregate 2019–2024 incidents to ZIP-level call counts and average response times.</a:t>
            </a:r>
            <a:endParaRPr sz="1200"/>
          </a:p>
          <a:p>
            <a:pPr indent="-304800" lvl="0" marL="457200" rtl="0" algn="l">
              <a:spcBef>
                <a:spcPts val="0"/>
              </a:spcBef>
              <a:spcAft>
                <a:spcPts val="0"/>
              </a:spcAft>
              <a:buSzPts val="1200"/>
              <a:buChar char="●"/>
            </a:pPr>
            <a:r>
              <a:rPr lang="en" sz="1200"/>
              <a:t>Retrieve ACS 2022 ZIP-code socioeconomic indicators and compute key rates (poverty, unemployment, education, renter share, race composition, diversity).</a:t>
            </a:r>
            <a:endParaRPr sz="1200"/>
          </a:p>
          <a:p>
            <a:pPr indent="-304800" lvl="0" marL="457200" rtl="0" algn="l">
              <a:spcBef>
                <a:spcPts val="0"/>
              </a:spcBef>
              <a:spcAft>
                <a:spcPts val="0"/>
              </a:spcAft>
              <a:buSzPts val="1200"/>
              <a:buChar char="●"/>
            </a:pPr>
            <a:r>
              <a:rPr lang="en" sz="1200"/>
              <a:t>Merge EMS, ACS, and ZIP-code geometries; engineer features (incidents per 1,000 residents, response time per incident, hotspot flag, borough encoding).</a:t>
            </a:r>
            <a:endParaRPr sz="1200"/>
          </a:p>
          <a:p>
            <a:pPr indent="-304800" lvl="0" marL="457200" rtl="0" algn="l">
              <a:spcBef>
                <a:spcPts val="0"/>
              </a:spcBef>
              <a:spcAft>
                <a:spcPts val="0"/>
              </a:spcAft>
              <a:buSzPts val="1200"/>
              <a:buChar char="●"/>
            </a:pPr>
            <a:r>
              <a:rPr lang="en" sz="1200"/>
              <a:t>Drop leakage and missing columns, then build an 80/20 stratified train–test split and scale predictors for the logistic model.</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Model </a:t>
            </a:r>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Easily interpretable </a:t>
            </a:r>
            <a:endParaRPr/>
          </a:p>
          <a:p>
            <a:pPr indent="-334327" lvl="0" marL="457200" rtl="0" algn="l">
              <a:spcBef>
                <a:spcPts val="0"/>
              </a:spcBef>
              <a:spcAft>
                <a:spcPts val="0"/>
              </a:spcAft>
              <a:buSzPct val="100000"/>
              <a:buChar char="-"/>
            </a:pPr>
            <a:r>
              <a:rPr lang="en"/>
              <a:t>Performs well</a:t>
            </a:r>
            <a:endParaRPr/>
          </a:p>
          <a:p>
            <a:pPr indent="-334327" lvl="0" marL="457200" rtl="0" algn="l">
              <a:spcBef>
                <a:spcPts val="0"/>
              </a:spcBef>
              <a:spcAft>
                <a:spcPts val="0"/>
              </a:spcAft>
              <a:buSzPct val="100000"/>
              <a:buChar char="-"/>
            </a:pPr>
            <a:r>
              <a:rPr lang="en"/>
              <a:t>Avoids overfitting (L1)</a:t>
            </a:r>
            <a:endParaRPr/>
          </a:p>
          <a:p>
            <a:pPr indent="-334327" lvl="0" marL="457200" rtl="0" algn="l">
              <a:spcBef>
                <a:spcPts val="0"/>
              </a:spcBef>
              <a:spcAft>
                <a:spcPts val="0"/>
              </a:spcAft>
              <a:buSzPct val="100000"/>
              <a:buChar char="-"/>
            </a:pPr>
            <a:r>
              <a:rPr lang="en"/>
              <a:t>y = 1 if AVG_RESPONSE_MIN greater than 10 minutes, else 0 </a:t>
            </a:r>
            <a:endParaRPr/>
          </a:p>
          <a:p>
            <a:pPr indent="-334327" lvl="0" marL="457200" rtl="0" algn="l">
              <a:spcBef>
                <a:spcPts val="0"/>
              </a:spcBef>
              <a:spcAft>
                <a:spcPts val="0"/>
              </a:spcAft>
              <a:buSzPct val="100000"/>
              <a:buChar char="-"/>
            </a:pPr>
            <a:r>
              <a:rPr lang="en"/>
              <a:t>RandomizedSearchCV, tested penalty types (L1/L2), regularization strength, solver options and iteration limit </a:t>
            </a:r>
            <a:endParaRPr/>
          </a:p>
          <a:p>
            <a:pPr indent="0" lvl="0" marL="457200" rtl="0" algn="l">
              <a:spcBef>
                <a:spcPts val="1200"/>
              </a:spcBef>
              <a:spcAft>
                <a:spcPts val="0"/>
              </a:spcAft>
              <a:buNone/>
            </a:pPr>
            <a:r>
              <a:rPr lang="en"/>
              <a:t> </a:t>
            </a:r>
            <a:endParaRPr/>
          </a:p>
          <a:p>
            <a:pPr indent="-334327" lvl="0" marL="457200" rtl="0" algn="l">
              <a:spcBef>
                <a:spcPts val="1200"/>
              </a:spcBef>
              <a:spcAft>
                <a:spcPts val="0"/>
              </a:spcAft>
              <a:buSzPct val="100000"/>
              <a:buChar char="-"/>
            </a:pPr>
            <a:r>
              <a:rPr lang="en"/>
              <a:t>Provides a simply binary outcome to estimate the probability of the response time being greater than 10 minutes </a:t>
            </a:r>
            <a:endParaRPr/>
          </a:p>
          <a:p>
            <a:pPr indent="-334327" lvl="0" marL="457200" rtl="0" algn="l">
              <a:spcBef>
                <a:spcPts val="0"/>
              </a:spcBef>
              <a:spcAft>
                <a:spcPts val="0"/>
              </a:spcAft>
              <a:buSzPct val="100000"/>
              <a:buChar char="-"/>
            </a:pPr>
            <a:r>
              <a:rPr lang="en"/>
              <a:t>Helpful to identify neighborhoods at risk of slow emergency response time </a:t>
            </a:r>
            <a:endParaRPr/>
          </a:p>
          <a:p>
            <a:pPr indent="0" lvl="0" marL="45720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of Logistic Model</a:t>
            </a:r>
            <a:endParaRPr/>
          </a:p>
        </p:txBody>
      </p:sp>
      <p:sp>
        <p:nvSpPr>
          <p:cNvPr id="93" name="Google Shape;93;p18"/>
          <p:cNvSpPr txBox="1"/>
          <p:nvPr>
            <p:ph idx="1" type="body"/>
          </p:nvPr>
        </p:nvSpPr>
        <p:spPr>
          <a:xfrm>
            <a:off x="311700" y="1152475"/>
            <a:ext cx="59151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Performance: </a:t>
            </a:r>
            <a:endParaRPr sz="1400"/>
          </a:p>
          <a:p>
            <a:pPr indent="-317500" lvl="1" marL="914400" rtl="0" algn="l">
              <a:spcBef>
                <a:spcPts val="0"/>
              </a:spcBef>
              <a:spcAft>
                <a:spcPts val="0"/>
              </a:spcAft>
              <a:buSzPts val="1400"/>
              <a:buChar char="-"/>
            </a:pPr>
            <a:r>
              <a:rPr lang="en"/>
              <a:t>Training AUC: 0.898 </a:t>
            </a:r>
            <a:endParaRPr/>
          </a:p>
          <a:p>
            <a:pPr indent="-317500" lvl="1" marL="914400" rtl="0" algn="l">
              <a:spcBef>
                <a:spcPts val="0"/>
              </a:spcBef>
              <a:spcAft>
                <a:spcPts val="0"/>
              </a:spcAft>
              <a:buSzPts val="1400"/>
              <a:buChar char="-"/>
            </a:pPr>
            <a:r>
              <a:rPr lang="en"/>
              <a:t>Test AUC: 0.853 </a:t>
            </a:r>
            <a:endParaRPr/>
          </a:p>
          <a:p>
            <a:pPr indent="-317500" lvl="1" marL="914400" rtl="0" algn="l">
              <a:spcBef>
                <a:spcPts val="0"/>
              </a:spcBef>
              <a:spcAft>
                <a:spcPts val="0"/>
              </a:spcAft>
              <a:buSzPts val="1400"/>
              <a:buChar char="-"/>
            </a:pPr>
            <a:r>
              <a:rPr lang="en"/>
              <a:t>Confusion Matrix: </a:t>
            </a:r>
            <a:endParaRPr/>
          </a:p>
          <a:p>
            <a:pPr indent="-317500" lvl="2" marL="1371600" rtl="0" algn="l">
              <a:spcBef>
                <a:spcPts val="0"/>
              </a:spcBef>
              <a:spcAft>
                <a:spcPts val="0"/>
              </a:spcAft>
              <a:buSzPts val="1400"/>
              <a:buChar char="-"/>
            </a:pPr>
            <a:r>
              <a:rPr lang="en"/>
              <a:t>22 True Negatives, 9 True Positives</a:t>
            </a:r>
            <a:endParaRPr/>
          </a:p>
          <a:p>
            <a:pPr indent="-317500" lvl="2" marL="1371600" rtl="0" algn="l">
              <a:spcBef>
                <a:spcPts val="0"/>
              </a:spcBef>
              <a:spcAft>
                <a:spcPts val="0"/>
              </a:spcAft>
              <a:buSzPts val="1400"/>
              <a:buChar char="-"/>
            </a:pPr>
            <a:r>
              <a:rPr lang="en"/>
              <a:t>2 False Positives, 4 False Negatives</a:t>
            </a:r>
            <a:endParaRPr/>
          </a:p>
          <a:p>
            <a:pPr indent="-317500" lvl="1" marL="914400" rtl="0" algn="l">
              <a:spcBef>
                <a:spcPts val="0"/>
              </a:spcBef>
              <a:spcAft>
                <a:spcPts val="0"/>
              </a:spcAft>
              <a:buSzPts val="1400"/>
              <a:buChar char="-"/>
            </a:pPr>
            <a:r>
              <a:rPr lang="en"/>
              <a:t>ROC Curve: AUC = 0.85 → Model can distinguish fast vs. slow response zones 85% of the time </a:t>
            </a:r>
            <a:endParaRPr/>
          </a:p>
          <a:p>
            <a:pPr indent="-317500" lvl="0" marL="457200" rtl="0" algn="l">
              <a:spcBef>
                <a:spcPts val="0"/>
              </a:spcBef>
              <a:spcAft>
                <a:spcPts val="0"/>
              </a:spcAft>
              <a:buSzPts val="1400"/>
              <a:buChar char="-"/>
            </a:pPr>
            <a:r>
              <a:rPr lang="en" sz="1400"/>
              <a:t>While this model gives a generalized response of which neighborhoods are at a higher risk for slower response times, it doesn’t capture non-linear relationships which can be better for real life situations.  </a:t>
            </a:r>
            <a:endParaRPr sz="1400"/>
          </a:p>
        </p:txBody>
      </p:sp>
      <p:pic>
        <p:nvPicPr>
          <p:cNvPr id="94" name="Google Shape;94;p18"/>
          <p:cNvPicPr preferRelativeResize="0"/>
          <p:nvPr/>
        </p:nvPicPr>
        <p:blipFill>
          <a:blip r:embed="rId3">
            <a:alphaModFix/>
          </a:blip>
          <a:stretch>
            <a:fillRect/>
          </a:stretch>
        </p:blipFill>
        <p:spPr>
          <a:xfrm>
            <a:off x="6411900" y="140500"/>
            <a:ext cx="2420400" cy="2431250"/>
          </a:xfrm>
          <a:prstGeom prst="rect">
            <a:avLst/>
          </a:prstGeom>
          <a:noFill/>
          <a:ln>
            <a:noFill/>
          </a:ln>
        </p:spPr>
      </p:pic>
      <p:pic>
        <p:nvPicPr>
          <p:cNvPr id="95" name="Google Shape;95;p18"/>
          <p:cNvPicPr preferRelativeResize="0"/>
          <p:nvPr/>
        </p:nvPicPr>
        <p:blipFill>
          <a:blip r:embed="rId4">
            <a:alphaModFix/>
          </a:blip>
          <a:stretch>
            <a:fillRect/>
          </a:stretch>
        </p:blipFill>
        <p:spPr>
          <a:xfrm>
            <a:off x="6702575" y="2752175"/>
            <a:ext cx="2129725" cy="20746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Visualization and Results of Logistic Model</a:t>
            </a:r>
            <a:endParaRPr/>
          </a:p>
        </p:txBody>
      </p:sp>
      <p:sp>
        <p:nvSpPr>
          <p:cNvPr id="101" name="Google Shape;101;p19"/>
          <p:cNvSpPr txBox="1"/>
          <p:nvPr>
            <p:ph idx="1" type="body"/>
          </p:nvPr>
        </p:nvSpPr>
        <p:spPr>
          <a:xfrm>
            <a:off x="3867800" y="1130588"/>
            <a:ext cx="47295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lang="en" sz="1450"/>
              <a:t>Coefficient</a:t>
            </a:r>
            <a:r>
              <a:rPr lang="en" sz="1450"/>
              <a:t> Plot </a:t>
            </a:r>
            <a:endParaRPr sz="1450"/>
          </a:p>
          <a:p>
            <a:pPr indent="-320675" lvl="0" marL="457200" rtl="0" algn="l">
              <a:lnSpc>
                <a:spcPct val="105000"/>
              </a:lnSpc>
              <a:spcBef>
                <a:spcPts val="1200"/>
              </a:spcBef>
              <a:spcAft>
                <a:spcPts val="0"/>
              </a:spcAft>
              <a:buSzPts val="1450"/>
              <a:buChar char="-"/>
            </a:pPr>
            <a:r>
              <a:rPr lang="en" sz="1450"/>
              <a:t>Right side → factors that </a:t>
            </a:r>
            <a:r>
              <a:rPr lang="en" sz="1450"/>
              <a:t>increase</a:t>
            </a:r>
            <a:r>
              <a:rPr lang="en" sz="1450"/>
              <a:t> the probability of slow emergency response </a:t>
            </a:r>
            <a:endParaRPr sz="1450"/>
          </a:p>
          <a:p>
            <a:pPr indent="-320675" lvl="0" marL="457200" rtl="0" algn="l">
              <a:lnSpc>
                <a:spcPct val="105000"/>
              </a:lnSpc>
              <a:spcBef>
                <a:spcPts val="0"/>
              </a:spcBef>
              <a:spcAft>
                <a:spcPts val="0"/>
              </a:spcAft>
              <a:buSzPts val="1450"/>
              <a:buChar char="-"/>
            </a:pPr>
            <a:r>
              <a:rPr lang="en" sz="1450"/>
              <a:t>Left side → factors that decrease the probability of slow response </a:t>
            </a:r>
            <a:endParaRPr sz="1450"/>
          </a:p>
          <a:p>
            <a:pPr indent="0" lvl="0" marL="0" rtl="0" algn="l">
              <a:lnSpc>
                <a:spcPct val="105000"/>
              </a:lnSpc>
              <a:spcBef>
                <a:spcPts val="1200"/>
              </a:spcBef>
              <a:spcAft>
                <a:spcPts val="0"/>
              </a:spcAft>
              <a:buSzPts val="770"/>
              <a:buNone/>
            </a:pPr>
            <a:r>
              <a:rPr lang="en" sz="1450"/>
              <a:t>Results: </a:t>
            </a:r>
            <a:endParaRPr sz="1450"/>
          </a:p>
          <a:p>
            <a:pPr indent="-320675" lvl="0" marL="457200" rtl="0" algn="l">
              <a:lnSpc>
                <a:spcPct val="105000"/>
              </a:lnSpc>
              <a:spcBef>
                <a:spcPts val="1200"/>
              </a:spcBef>
              <a:spcAft>
                <a:spcPts val="0"/>
              </a:spcAft>
              <a:buSzPts val="1450"/>
              <a:buChar char="-"/>
            </a:pPr>
            <a:r>
              <a:rPr lang="en" sz="1450"/>
              <a:t>Higher percentages of multiracial residents, renter rate and </a:t>
            </a:r>
            <a:r>
              <a:rPr lang="en" sz="1450"/>
              <a:t>neighborhood</a:t>
            </a:r>
            <a:r>
              <a:rPr lang="en" sz="1450"/>
              <a:t> diversity, and graduate degree rate tend to increase the probability of risk of slow response </a:t>
            </a:r>
            <a:endParaRPr sz="1450"/>
          </a:p>
          <a:p>
            <a:pPr indent="-320675" lvl="0" marL="457200" rtl="0" algn="l">
              <a:lnSpc>
                <a:spcPct val="105000"/>
              </a:lnSpc>
              <a:spcBef>
                <a:spcPts val="0"/>
              </a:spcBef>
              <a:spcAft>
                <a:spcPts val="0"/>
              </a:spcAft>
              <a:buSzPts val="1450"/>
              <a:buChar char="-"/>
            </a:pPr>
            <a:r>
              <a:rPr lang="en" sz="1450"/>
              <a:t>Higher median gross, percentage of white residents and more total households decrease the risk of slow response </a:t>
            </a:r>
            <a:endParaRPr sz="1450"/>
          </a:p>
        </p:txBody>
      </p:sp>
      <p:pic>
        <p:nvPicPr>
          <p:cNvPr id="102" name="Google Shape;102;p19"/>
          <p:cNvPicPr preferRelativeResize="0"/>
          <p:nvPr/>
        </p:nvPicPr>
        <p:blipFill>
          <a:blip r:embed="rId3">
            <a:alphaModFix/>
          </a:blip>
          <a:stretch>
            <a:fillRect/>
          </a:stretch>
        </p:blipFill>
        <p:spPr>
          <a:xfrm>
            <a:off x="188200" y="1130588"/>
            <a:ext cx="3049061" cy="382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Non-Logistic Models</a:t>
            </a:r>
            <a:endParaRPr/>
          </a:p>
        </p:txBody>
      </p:sp>
      <p:sp>
        <p:nvSpPr>
          <p:cNvPr id="108" name="Google Shape;108;p20"/>
          <p:cNvSpPr txBox="1"/>
          <p:nvPr>
            <p:ph idx="1" type="body"/>
          </p:nvPr>
        </p:nvSpPr>
        <p:spPr>
          <a:xfrm>
            <a:off x="311700" y="1142250"/>
            <a:ext cx="8100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en"/>
              <a:t>y = 1 if AVG_RESPONSE_MIN greater than 10 minutes, else 0 </a:t>
            </a:r>
            <a:endParaRPr/>
          </a:p>
          <a:p>
            <a:pPr indent="-342900" lvl="0" marL="457200" rtl="0" algn="l">
              <a:spcBef>
                <a:spcPts val="0"/>
              </a:spcBef>
              <a:spcAft>
                <a:spcPts val="0"/>
              </a:spcAft>
              <a:buSzPts val="1800"/>
              <a:buChar char="-"/>
            </a:pPr>
            <a:r>
              <a:rPr lang="en"/>
              <a:t>Capture nonlinear relationships</a:t>
            </a:r>
            <a:endParaRPr/>
          </a:p>
          <a:p>
            <a:pPr indent="-342900" lvl="0" marL="457200" rtl="0" algn="l">
              <a:spcBef>
                <a:spcPts val="0"/>
              </a:spcBef>
              <a:spcAft>
                <a:spcPts val="0"/>
              </a:spcAft>
              <a:buSzPts val="1800"/>
              <a:buChar char="-"/>
            </a:pPr>
            <a:r>
              <a:rPr lang="en"/>
              <a:t>Better suited for mixed socioeconomic, demographic, and spatial data</a:t>
            </a:r>
            <a:endParaRPr/>
          </a:p>
          <a:p>
            <a:pPr indent="-342900" lvl="0" marL="457200" rtl="0" algn="l">
              <a:spcBef>
                <a:spcPts val="0"/>
              </a:spcBef>
              <a:spcAft>
                <a:spcPts val="0"/>
              </a:spcAft>
              <a:buSzPts val="1800"/>
              <a:buChar char="-"/>
            </a:pPr>
            <a:r>
              <a:rPr lang="en"/>
              <a:t>Useful for deeper interactions, identifying high-risk ZIP codes</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283500" y="163825"/>
            <a:ext cx="6060900" cy="929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Non-Logistic Model (GradientBoostingClassifier)</a:t>
            </a:r>
            <a:endParaRPr/>
          </a:p>
          <a:p>
            <a:pPr indent="0" lvl="0" marL="0" rtl="0" algn="l">
              <a:spcBef>
                <a:spcPts val="0"/>
              </a:spcBef>
              <a:spcAft>
                <a:spcPts val="0"/>
              </a:spcAft>
              <a:buNone/>
            </a:pPr>
            <a:r>
              <a:t/>
            </a:r>
            <a:endParaRPr/>
          </a:p>
        </p:txBody>
      </p:sp>
      <p:sp>
        <p:nvSpPr>
          <p:cNvPr id="114" name="Google Shape;114;p21"/>
          <p:cNvSpPr txBox="1"/>
          <p:nvPr>
            <p:ph idx="1" type="body"/>
          </p:nvPr>
        </p:nvSpPr>
        <p:spPr>
          <a:xfrm>
            <a:off x="311700" y="1271900"/>
            <a:ext cx="6004500" cy="3297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Performance: </a:t>
            </a:r>
            <a:endParaRPr/>
          </a:p>
          <a:p>
            <a:pPr indent="-317500" lvl="1" marL="914400" rtl="0" algn="l">
              <a:spcBef>
                <a:spcPts val="0"/>
              </a:spcBef>
              <a:spcAft>
                <a:spcPts val="0"/>
              </a:spcAft>
              <a:buSzPts val="1400"/>
              <a:buChar char="-"/>
            </a:pPr>
            <a:r>
              <a:rPr lang="en"/>
              <a:t>Training AUC: 1.0 </a:t>
            </a:r>
            <a:endParaRPr/>
          </a:p>
          <a:p>
            <a:pPr indent="-317500" lvl="1" marL="914400" rtl="0" algn="l">
              <a:spcBef>
                <a:spcPts val="0"/>
              </a:spcBef>
              <a:spcAft>
                <a:spcPts val="0"/>
              </a:spcAft>
              <a:buSzPts val="1400"/>
              <a:buChar char="-"/>
            </a:pPr>
            <a:r>
              <a:rPr lang="en"/>
              <a:t>Test AUC: 0.907 </a:t>
            </a:r>
            <a:endParaRPr/>
          </a:p>
          <a:p>
            <a:pPr indent="-317500" lvl="1" marL="914400" rtl="0" algn="l">
              <a:spcBef>
                <a:spcPts val="0"/>
              </a:spcBef>
              <a:spcAft>
                <a:spcPts val="0"/>
              </a:spcAft>
              <a:buSzPts val="1400"/>
              <a:buChar char="-"/>
            </a:pPr>
            <a:r>
              <a:rPr lang="en"/>
              <a:t>Confusion Matrix: </a:t>
            </a:r>
            <a:endParaRPr/>
          </a:p>
          <a:p>
            <a:pPr indent="-317500" lvl="2" marL="1371600" rtl="0" algn="l">
              <a:spcBef>
                <a:spcPts val="0"/>
              </a:spcBef>
              <a:spcAft>
                <a:spcPts val="0"/>
              </a:spcAft>
              <a:buSzPts val="1400"/>
              <a:buChar char="-"/>
            </a:pPr>
            <a:r>
              <a:rPr lang="en"/>
              <a:t>22 True Negatives, 8 True Positives</a:t>
            </a:r>
            <a:endParaRPr/>
          </a:p>
          <a:p>
            <a:pPr indent="-317500" lvl="2" marL="1371600" rtl="0" algn="l">
              <a:spcBef>
                <a:spcPts val="0"/>
              </a:spcBef>
              <a:spcAft>
                <a:spcPts val="0"/>
              </a:spcAft>
              <a:buSzPts val="1400"/>
              <a:buChar char="-"/>
            </a:pPr>
            <a:r>
              <a:rPr lang="en"/>
              <a:t>2 False Positives, 5 False Negatives</a:t>
            </a:r>
            <a:endParaRPr/>
          </a:p>
          <a:p>
            <a:pPr indent="-317500" lvl="1" marL="914400" rtl="0" algn="l">
              <a:spcBef>
                <a:spcPts val="0"/>
              </a:spcBef>
              <a:spcAft>
                <a:spcPts val="0"/>
              </a:spcAft>
              <a:buSzPts val="1400"/>
              <a:buChar char="-"/>
            </a:pPr>
            <a:r>
              <a:rPr lang="en"/>
              <a:t>ROC Curve: AUC = 0.91 → Model can distinguish fast vs. slow response zones 91% of the time </a:t>
            </a:r>
            <a:endParaRPr/>
          </a:p>
          <a:p>
            <a:pPr indent="-342900" lvl="0" marL="457200" rtl="0" algn="l">
              <a:spcBef>
                <a:spcPts val="0"/>
              </a:spcBef>
              <a:spcAft>
                <a:spcPts val="0"/>
              </a:spcAft>
              <a:buSzPts val="1800"/>
              <a:buChar char="-"/>
            </a:pPr>
            <a:r>
              <a:rPr lang="en"/>
              <a:t>Delivers strong predictive accuracy</a:t>
            </a:r>
            <a:endParaRPr/>
          </a:p>
          <a:p>
            <a:pPr indent="-342900" lvl="0" marL="457200" rtl="0" algn="l">
              <a:spcBef>
                <a:spcPts val="0"/>
              </a:spcBef>
              <a:spcAft>
                <a:spcPts val="0"/>
              </a:spcAft>
              <a:buSzPts val="1800"/>
              <a:buChar char="-"/>
            </a:pPr>
            <a:r>
              <a:rPr lang="en"/>
              <a:t>Captures complex, nonlinear patterns and feature interactions</a:t>
            </a:r>
            <a:endParaRPr/>
          </a:p>
        </p:txBody>
      </p:sp>
      <p:pic>
        <p:nvPicPr>
          <p:cNvPr id="115" name="Google Shape;115;p21"/>
          <p:cNvPicPr preferRelativeResize="0"/>
          <p:nvPr/>
        </p:nvPicPr>
        <p:blipFill>
          <a:blip r:embed="rId3">
            <a:alphaModFix/>
          </a:blip>
          <a:stretch>
            <a:fillRect/>
          </a:stretch>
        </p:blipFill>
        <p:spPr>
          <a:xfrm>
            <a:off x="6316275" y="133875"/>
            <a:ext cx="2459275" cy="2331150"/>
          </a:xfrm>
          <a:prstGeom prst="rect">
            <a:avLst/>
          </a:prstGeom>
          <a:noFill/>
          <a:ln>
            <a:noFill/>
          </a:ln>
        </p:spPr>
      </p:pic>
      <p:pic>
        <p:nvPicPr>
          <p:cNvPr id="116" name="Google Shape;116;p21"/>
          <p:cNvPicPr preferRelativeResize="0"/>
          <p:nvPr/>
        </p:nvPicPr>
        <p:blipFill>
          <a:blip r:embed="rId4">
            <a:alphaModFix/>
          </a:blip>
          <a:stretch>
            <a:fillRect/>
          </a:stretch>
        </p:blipFill>
        <p:spPr>
          <a:xfrm>
            <a:off x="6480624" y="2465025"/>
            <a:ext cx="2294925" cy="23147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204725"/>
            <a:ext cx="5012700" cy="964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39285"/>
              <a:buFont typeface="Arial"/>
              <a:buNone/>
            </a:pPr>
            <a:r>
              <a:rPr lang="en"/>
              <a:t>Non-Logistic Regression (Random Forest Classifier)</a:t>
            </a:r>
            <a:endParaRPr/>
          </a:p>
          <a:p>
            <a:pPr indent="0" lvl="0" marL="0" rtl="0" algn="l">
              <a:spcBef>
                <a:spcPts val="1200"/>
              </a:spcBef>
              <a:spcAft>
                <a:spcPts val="0"/>
              </a:spcAft>
              <a:buNone/>
            </a:pPr>
            <a:r>
              <a:t/>
            </a:r>
            <a:endParaRPr/>
          </a:p>
        </p:txBody>
      </p:sp>
      <p:sp>
        <p:nvSpPr>
          <p:cNvPr id="122" name="Google Shape;122;p22"/>
          <p:cNvSpPr txBox="1"/>
          <p:nvPr>
            <p:ph idx="1" type="body"/>
          </p:nvPr>
        </p:nvSpPr>
        <p:spPr>
          <a:xfrm>
            <a:off x="311700" y="1374150"/>
            <a:ext cx="5989200" cy="3389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Performance: </a:t>
            </a:r>
            <a:endParaRPr/>
          </a:p>
          <a:p>
            <a:pPr indent="-317500" lvl="1" marL="914400" rtl="0" algn="l">
              <a:spcBef>
                <a:spcPts val="0"/>
              </a:spcBef>
              <a:spcAft>
                <a:spcPts val="0"/>
              </a:spcAft>
              <a:buSzPts val="1400"/>
              <a:buChar char="-"/>
            </a:pPr>
            <a:r>
              <a:rPr lang="en"/>
              <a:t>Training AUC: 1.0 </a:t>
            </a:r>
            <a:endParaRPr/>
          </a:p>
          <a:p>
            <a:pPr indent="-317500" lvl="1" marL="914400" rtl="0" algn="l">
              <a:spcBef>
                <a:spcPts val="0"/>
              </a:spcBef>
              <a:spcAft>
                <a:spcPts val="0"/>
              </a:spcAft>
              <a:buSzPts val="1400"/>
              <a:buChar char="-"/>
            </a:pPr>
            <a:r>
              <a:rPr lang="en"/>
              <a:t>Test AUC: 0.853 </a:t>
            </a:r>
            <a:endParaRPr/>
          </a:p>
          <a:p>
            <a:pPr indent="-317500" lvl="1" marL="914400" rtl="0" algn="l">
              <a:spcBef>
                <a:spcPts val="0"/>
              </a:spcBef>
              <a:spcAft>
                <a:spcPts val="0"/>
              </a:spcAft>
              <a:buSzPts val="1400"/>
              <a:buChar char="-"/>
            </a:pPr>
            <a:r>
              <a:rPr lang="en"/>
              <a:t>Confusion Matrix: </a:t>
            </a:r>
            <a:endParaRPr/>
          </a:p>
          <a:p>
            <a:pPr indent="-317500" lvl="2" marL="1371600" rtl="0" algn="l">
              <a:spcBef>
                <a:spcPts val="0"/>
              </a:spcBef>
              <a:spcAft>
                <a:spcPts val="0"/>
              </a:spcAft>
              <a:buSzPts val="1400"/>
              <a:buChar char="-"/>
            </a:pPr>
            <a:r>
              <a:rPr lang="en"/>
              <a:t>22 True Negatives, 8 True Positives</a:t>
            </a:r>
            <a:endParaRPr/>
          </a:p>
          <a:p>
            <a:pPr indent="-317500" lvl="2" marL="1371600" rtl="0" algn="l">
              <a:spcBef>
                <a:spcPts val="0"/>
              </a:spcBef>
              <a:spcAft>
                <a:spcPts val="0"/>
              </a:spcAft>
              <a:buSzPts val="1400"/>
              <a:buChar char="-"/>
            </a:pPr>
            <a:r>
              <a:rPr lang="en"/>
              <a:t>2 False Positives, 5 False Negatives</a:t>
            </a:r>
            <a:endParaRPr/>
          </a:p>
          <a:p>
            <a:pPr indent="-317500" lvl="1" marL="914400" rtl="0" algn="l">
              <a:spcBef>
                <a:spcPts val="0"/>
              </a:spcBef>
              <a:spcAft>
                <a:spcPts val="0"/>
              </a:spcAft>
              <a:buSzPts val="1400"/>
              <a:buChar char="-"/>
            </a:pPr>
            <a:r>
              <a:rPr lang="en"/>
              <a:t>ROC Curve: AUC = 0.85 → Model can distinguish fast vs. slow response zones 85% of the time </a:t>
            </a:r>
            <a:endParaRPr/>
          </a:p>
          <a:p>
            <a:pPr indent="-342900" lvl="0" marL="457200" rtl="0" algn="l">
              <a:spcBef>
                <a:spcPts val="0"/>
              </a:spcBef>
              <a:spcAft>
                <a:spcPts val="0"/>
              </a:spcAft>
              <a:buSzPts val="1800"/>
              <a:buChar char="-"/>
            </a:pPr>
            <a:r>
              <a:rPr lang="en"/>
              <a:t>Robust and stable performance</a:t>
            </a:r>
            <a:endParaRPr/>
          </a:p>
          <a:p>
            <a:pPr indent="-342900" lvl="0" marL="457200" rtl="0" algn="l">
              <a:spcBef>
                <a:spcPts val="0"/>
              </a:spcBef>
              <a:spcAft>
                <a:spcPts val="0"/>
              </a:spcAft>
              <a:buSzPts val="1800"/>
              <a:buChar char="-"/>
            </a:pPr>
            <a:r>
              <a:rPr lang="en"/>
              <a:t>Handles high-dimensional datasets</a:t>
            </a:r>
            <a:endParaRPr/>
          </a:p>
        </p:txBody>
      </p:sp>
      <p:pic>
        <p:nvPicPr>
          <p:cNvPr id="123" name="Google Shape;123;p22"/>
          <p:cNvPicPr preferRelativeResize="0"/>
          <p:nvPr/>
        </p:nvPicPr>
        <p:blipFill>
          <a:blip r:embed="rId3">
            <a:alphaModFix/>
          </a:blip>
          <a:stretch>
            <a:fillRect/>
          </a:stretch>
        </p:blipFill>
        <p:spPr>
          <a:xfrm>
            <a:off x="6300900" y="91425"/>
            <a:ext cx="2449825" cy="2446525"/>
          </a:xfrm>
          <a:prstGeom prst="rect">
            <a:avLst/>
          </a:prstGeom>
          <a:noFill/>
          <a:ln>
            <a:noFill/>
          </a:ln>
        </p:spPr>
      </p:pic>
      <p:pic>
        <p:nvPicPr>
          <p:cNvPr id="124" name="Google Shape;124;p22"/>
          <p:cNvPicPr preferRelativeResize="0"/>
          <p:nvPr/>
        </p:nvPicPr>
        <p:blipFill>
          <a:blip r:embed="rId4">
            <a:alphaModFix/>
          </a:blip>
          <a:stretch>
            <a:fillRect/>
          </a:stretch>
        </p:blipFill>
        <p:spPr>
          <a:xfrm>
            <a:off x="6372525" y="2571750"/>
            <a:ext cx="2378250" cy="240394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Visualization and Results of Non-Logistic Model</a:t>
            </a:r>
            <a:endParaRPr/>
          </a:p>
          <a:p>
            <a:pPr indent="0" lvl="0" marL="0" rtl="0" algn="l">
              <a:spcBef>
                <a:spcPts val="0"/>
              </a:spcBef>
              <a:spcAft>
                <a:spcPts val="0"/>
              </a:spcAft>
              <a:buNone/>
            </a:pPr>
            <a:r>
              <a:t/>
            </a:r>
            <a:endParaRPr/>
          </a:p>
        </p:txBody>
      </p:sp>
      <p:sp>
        <p:nvSpPr>
          <p:cNvPr id="130" name="Google Shape;130;p23"/>
          <p:cNvSpPr txBox="1"/>
          <p:nvPr>
            <p:ph idx="1" type="body"/>
          </p:nvPr>
        </p:nvSpPr>
        <p:spPr>
          <a:xfrm>
            <a:off x="4690375" y="1152475"/>
            <a:ext cx="41418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Race and ethnicity variables (pct_asian, pct_black, pct_other_race, pct_hispanic) are the strongest predictors of delayed EMS response</a:t>
            </a:r>
            <a:endParaRPr sz="1400"/>
          </a:p>
          <a:p>
            <a:pPr indent="-317500" lvl="0" marL="457200" rtl="0" algn="l">
              <a:spcBef>
                <a:spcPts val="0"/>
              </a:spcBef>
              <a:spcAft>
                <a:spcPts val="0"/>
              </a:spcAft>
              <a:buSzPts val="1400"/>
              <a:buChar char="●"/>
            </a:pPr>
            <a:r>
              <a:rPr lang="en" sz="1400"/>
              <a:t>GBM and Random Forest agree on the general ranking, but GBM distributes importance across more features, while Random Forest emphasizes a few predictors more strongly (e.g., pct_asian, pct_black).</a:t>
            </a:r>
            <a:endParaRPr sz="1400"/>
          </a:p>
          <a:p>
            <a:pPr indent="-317500" lvl="0" marL="457200" rtl="0" algn="l">
              <a:spcBef>
                <a:spcPts val="0"/>
              </a:spcBef>
              <a:spcAft>
                <a:spcPts val="0"/>
              </a:spcAft>
              <a:buSzPts val="1400"/>
              <a:buChar char="●"/>
            </a:pPr>
            <a:r>
              <a:rPr lang="en" sz="1400"/>
              <a:t>A complex mix of socioeconomic, demographic, and geographic factors</a:t>
            </a:r>
            <a:endParaRPr sz="1400"/>
          </a:p>
        </p:txBody>
      </p:sp>
      <p:pic>
        <p:nvPicPr>
          <p:cNvPr id="131" name="Google Shape;131;p23"/>
          <p:cNvPicPr preferRelativeResize="0"/>
          <p:nvPr/>
        </p:nvPicPr>
        <p:blipFill>
          <a:blip r:embed="rId3">
            <a:alphaModFix/>
          </a:blip>
          <a:stretch>
            <a:fillRect/>
          </a:stretch>
        </p:blipFill>
        <p:spPr>
          <a:xfrm>
            <a:off x="311700" y="1141800"/>
            <a:ext cx="4291775" cy="3269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a:t>
            </a:r>
            <a:endParaRPr/>
          </a:p>
          <a:p>
            <a:pPr indent="0" lvl="0" marL="0" rtl="0" algn="l">
              <a:spcBef>
                <a:spcPts val="0"/>
              </a:spcBef>
              <a:spcAft>
                <a:spcPts val="0"/>
              </a:spcAft>
              <a:buNone/>
            </a:pPr>
            <a:r>
              <a:t/>
            </a:r>
            <a:endParaRPr/>
          </a:p>
        </p:txBody>
      </p:sp>
      <p:sp>
        <p:nvSpPr>
          <p:cNvPr id="137" name="Google Shape;137;p24"/>
          <p:cNvSpPr txBox="1"/>
          <p:nvPr>
            <p:ph idx="1" type="body"/>
          </p:nvPr>
        </p:nvSpPr>
        <p:spPr>
          <a:xfrm>
            <a:off x="623400" y="2769875"/>
            <a:ext cx="7863000" cy="193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Gradient Boosting Classifier has the highest test AUC, but both tree-based models showed signs of overfitting. But, GBM generalization is still strong.</a:t>
            </a:r>
            <a:endParaRPr/>
          </a:p>
          <a:p>
            <a:pPr indent="0" lvl="0" marL="0" rtl="0" algn="l">
              <a:spcBef>
                <a:spcPts val="1200"/>
              </a:spcBef>
              <a:spcAft>
                <a:spcPts val="1200"/>
              </a:spcAft>
              <a:buNone/>
            </a:pPr>
            <a:r>
              <a:rPr lang="en"/>
              <a:t>The logistic </a:t>
            </a:r>
            <a:r>
              <a:rPr lang="en"/>
              <a:t>regression</a:t>
            </a:r>
            <a:r>
              <a:rPr lang="en"/>
              <a:t> offers a strong performance and has a lower overfitting risk and clearer </a:t>
            </a:r>
            <a:r>
              <a:rPr lang="en"/>
              <a:t>interpretation. </a:t>
            </a:r>
            <a:endParaRPr/>
          </a:p>
        </p:txBody>
      </p:sp>
      <p:graphicFrame>
        <p:nvGraphicFramePr>
          <p:cNvPr id="138" name="Google Shape;138;p24"/>
          <p:cNvGraphicFramePr/>
          <p:nvPr/>
        </p:nvGraphicFramePr>
        <p:xfrm>
          <a:off x="623400" y="1136300"/>
          <a:ext cx="3000000" cy="3000000"/>
        </p:xfrm>
        <a:graphic>
          <a:graphicData uri="http://schemas.openxmlformats.org/drawingml/2006/table">
            <a:tbl>
              <a:tblPr>
                <a:noFill/>
                <a:tableStyleId>{427E4627-9E64-42ED-ADCF-0A0A92703085}</a:tableStyleId>
              </a:tblPr>
              <a:tblGrid>
                <a:gridCol w="2080175"/>
                <a:gridCol w="2080175"/>
                <a:gridCol w="2080175"/>
                <a:gridCol w="2080175"/>
              </a:tblGrid>
              <a:tr h="3217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Logistic Regression</a:t>
                      </a:r>
                      <a:endParaRPr/>
                    </a:p>
                  </a:txBody>
                  <a:tcPr marT="91425" marB="91425" marR="91425" marL="91425"/>
                </a:tc>
                <a:tc>
                  <a:txBody>
                    <a:bodyPr/>
                    <a:lstStyle/>
                    <a:p>
                      <a:pPr indent="0" lvl="0" marL="0" rtl="0" algn="l">
                        <a:spcBef>
                          <a:spcPts val="0"/>
                        </a:spcBef>
                        <a:spcAft>
                          <a:spcPts val="0"/>
                        </a:spcAft>
                        <a:buNone/>
                      </a:pPr>
                      <a:r>
                        <a:rPr lang="en"/>
                        <a:t>Gradient Boosting Classifier </a:t>
                      </a:r>
                      <a:endParaRPr/>
                    </a:p>
                  </a:txBody>
                  <a:tcPr marT="91425" marB="91425" marR="91425" marL="91425"/>
                </a:tc>
                <a:tc>
                  <a:txBody>
                    <a:bodyPr/>
                    <a:lstStyle/>
                    <a:p>
                      <a:pPr indent="0" lvl="0" marL="0" rtl="0" algn="l">
                        <a:spcBef>
                          <a:spcPts val="0"/>
                        </a:spcBef>
                        <a:spcAft>
                          <a:spcPts val="0"/>
                        </a:spcAft>
                        <a:buNone/>
                      </a:pPr>
                      <a:r>
                        <a:rPr lang="en"/>
                        <a:t>Random Forest Classifier</a:t>
                      </a:r>
                      <a:endParaRPr/>
                    </a:p>
                  </a:txBody>
                  <a:tcPr marT="91425" marB="91425" marR="91425" marL="91425"/>
                </a:tc>
              </a:tr>
              <a:tr h="209150">
                <a:tc>
                  <a:txBody>
                    <a:bodyPr/>
                    <a:lstStyle/>
                    <a:p>
                      <a:pPr indent="0" lvl="0" marL="0" rtl="0" algn="l">
                        <a:spcBef>
                          <a:spcPts val="0"/>
                        </a:spcBef>
                        <a:spcAft>
                          <a:spcPts val="0"/>
                        </a:spcAft>
                        <a:buNone/>
                      </a:pPr>
                      <a:r>
                        <a:rPr lang="en"/>
                        <a:t>AUC for Training</a:t>
                      </a:r>
                      <a:endParaRPr/>
                    </a:p>
                  </a:txBody>
                  <a:tcPr marT="91425" marB="91425" marR="91425" marL="91425"/>
                </a:tc>
                <a:tc>
                  <a:txBody>
                    <a:bodyPr/>
                    <a:lstStyle/>
                    <a:p>
                      <a:pPr indent="0" lvl="0" marL="0" rtl="0" algn="l">
                        <a:spcBef>
                          <a:spcPts val="0"/>
                        </a:spcBef>
                        <a:spcAft>
                          <a:spcPts val="0"/>
                        </a:spcAft>
                        <a:buNone/>
                      </a:pPr>
                      <a:r>
                        <a:rPr lang="en"/>
                        <a:t>0.898</a:t>
                      </a:r>
                      <a:endParaRPr/>
                    </a:p>
                  </a:txBody>
                  <a:tcPr marT="91425" marB="91425" marR="91425" marL="91425"/>
                </a:tc>
                <a:tc>
                  <a:txBody>
                    <a:bodyPr/>
                    <a:lstStyle/>
                    <a:p>
                      <a:pPr indent="0" lvl="0" marL="0" rtl="0" algn="l">
                        <a:spcBef>
                          <a:spcPts val="0"/>
                        </a:spcBef>
                        <a:spcAft>
                          <a:spcPts val="0"/>
                        </a:spcAft>
                        <a:buNone/>
                      </a:pPr>
                      <a:r>
                        <a:rPr lang="en"/>
                        <a:t>1.00</a:t>
                      </a:r>
                      <a:endParaRPr/>
                    </a:p>
                  </a:txBody>
                  <a:tcPr marT="91425" marB="91425" marR="91425" marL="91425"/>
                </a:tc>
                <a:tc>
                  <a:txBody>
                    <a:bodyPr/>
                    <a:lstStyle/>
                    <a:p>
                      <a:pPr indent="0" lvl="0" marL="0" rtl="0" algn="l">
                        <a:spcBef>
                          <a:spcPts val="0"/>
                        </a:spcBef>
                        <a:spcAft>
                          <a:spcPts val="0"/>
                        </a:spcAft>
                        <a:buNone/>
                      </a:pPr>
                      <a:r>
                        <a:rPr lang="en"/>
                        <a:t>1.00</a:t>
                      </a:r>
                      <a:endParaRPr/>
                    </a:p>
                  </a:txBody>
                  <a:tcPr marT="91425" marB="91425" marR="91425" marL="91425"/>
                </a:tc>
              </a:tr>
              <a:tr h="209150">
                <a:tc>
                  <a:txBody>
                    <a:bodyPr/>
                    <a:lstStyle/>
                    <a:p>
                      <a:pPr indent="0" lvl="0" marL="0" rtl="0" algn="l">
                        <a:spcBef>
                          <a:spcPts val="0"/>
                        </a:spcBef>
                        <a:spcAft>
                          <a:spcPts val="0"/>
                        </a:spcAft>
                        <a:buNone/>
                      </a:pPr>
                      <a:r>
                        <a:rPr lang="en"/>
                        <a:t>AUC for Testing</a:t>
                      </a:r>
                      <a:endParaRPr/>
                    </a:p>
                  </a:txBody>
                  <a:tcPr marT="91425" marB="91425" marR="91425" marL="91425"/>
                </a:tc>
                <a:tc>
                  <a:txBody>
                    <a:bodyPr/>
                    <a:lstStyle/>
                    <a:p>
                      <a:pPr indent="0" lvl="0" marL="0" rtl="0" algn="l">
                        <a:spcBef>
                          <a:spcPts val="0"/>
                        </a:spcBef>
                        <a:spcAft>
                          <a:spcPts val="0"/>
                        </a:spcAft>
                        <a:buNone/>
                      </a:pPr>
                      <a:r>
                        <a:rPr lang="en"/>
                        <a:t>0.853</a:t>
                      </a:r>
                      <a:endParaRPr/>
                    </a:p>
                  </a:txBody>
                  <a:tcPr marT="91425" marB="91425" marR="91425" marL="91425"/>
                </a:tc>
                <a:tc>
                  <a:txBody>
                    <a:bodyPr/>
                    <a:lstStyle/>
                    <a:p>
                      <a:pPr indent="0" lvl="0" marL="0" rtl="0" algn="l">
                        <a:spcBef>
                          <a:spcPts val="0"/>
                        </a:spcBef>
                        <a:spcAft>
                          <a:spcPts val="0"/>
                        </a:spcAft>
                        <a:buNone/>
                      </a:pPr>
                      <a:r>
                        <a:rPr lang="en"/>
                        <a:t>0.907</a:t>
                      </a:r>
                      <a:endParaRPr/>
                    </a:p>
                  </a:txBody>
                  <a:tcPr marT="91425" marB="91425" marR="91425" marL="91425"/>
                </a:tc>
                <a:tc>
                  <a:txBody>
                    <a:bodyPr/>
                    <a:lstStyle/>
                    <a:p>
                      <a:pPr indent="0" lvl="0" marL="0" rtl="0" algn="l">
                        <a:spcBef>
                          <a:spcPts val="0"/>
                        </a:spcBef>
                        <a:spcAft>
                          <a:spcPts val="0"/>
                        </a:spcAft>
                        <a:buNone/>
                      </a:pPr>
                      <a:r>
                        <a:rPr lang="en"/>
                        <a:t>0.850</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44" name="Google Shape;144;p25"/>
          <p:cNvSpPr txBox="1"/>
          <p:nvPr>
            <p:ph idx="1" type="body"/>
          </p:nvPr>
        </p:nvSpPr>
        <p:spPr>
          <a:xfrm>
            <a:off x="348500" y="1341588"/>
            <a:ext cx="3860400" cy="3416400"/>
          </a:xfrm>
          <a:prstGeom prst="rect">
            <a:avLst/>
          </a:prstGeom>
        </p:spPr>
        <p:txBody>
          <a:bodyPr anchorCtr="0" anchor="t" bIns="91425" lIns="91425" spcFirstLastPara="1" rIns="91425" wrap="square" tIns="91425">
            <a:normAutofit lnSpcReduction="20000"/>
          </a:bodyPr>
          <a:lstStyle/>
          <a:p>
            <a:pPr indent="-298450" lvl="0" marL="457200" rtl="0" algn="l">
              <a:spcBef>
                <a:spcPts val="0"/>
              </a:spcBef>
              <a:spcAft>
                <a:spcPts val="0"/>
              </a:spcAft>
              <a:buClr>
                <a:schemeClr val="dk1"/>
              </a:buClr>
              <a:buSzPts val="1100"/>
              <a:buChar char="●"/>
            </a:pPr>
            <a:r>
              <a:rPr lang="en" sz="1100">
                <a:solidFill>
                  <a:schemeClr val="dk1"/>
                </a:solidFill>
              </a:rPr>
              <a:t>EMS demand and response times are</a:t>
            </a:r>
            <a:r>
              <a:rPr lang="en" sz="1100">
                <a:solidFill>
                  <a:schemeClr val="accent4"/>
                </a:solidFill>
              </a:rPr>
              <a:t> </a:t>
            </a:r>
            <a:r>
              <a:rPr b="1" lang="en" sz="1100">
                <a:solidFill>
                  <a:schemeClr val="accent4"/>
                </a:solidFill>
              </a:rPr>
              <a:t>strongly clustered in space</a:t>
            </a:r>
            <a:r>
              <a:rPr lang="en" sz="1100">
                <a:solidFill>
                  <a:schemeClr val="dk1"/>
                </a:solidFill>
              </a:rPr>
              <a:t>, rather than randomly distributed across NYC ZIP codes.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Spatial statistics (Moran’s I and LISA) show </a:t>
            </a:r>
            <a:r>
              <a:rPr b="1" lang="en" sz="1100">
                <a:solidFill>
                  <a:schemeClr val="accent4"/>
                </a:solidFill>
              </a:rPr>
              <a:t>clear high–high clusters</a:t>
            </a:r>
            <a:r>
              <a:rPr lang="en" sz="1100">
                <a:solidFill>
                  <a:schemeClr val="dk1"/>
                </a:solidFill>
              </a:rPr>
              <a:t> for both slow response times and socioeconomic disadvantage (e.g., poverty, unemployment).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Across models, </a:t>
            </a:r>
            <a:r>
              <a:rPr b="1" lang="en" sz="1100">
                <a:solidFill>
                  <a:schemeClr val="accent4"/>
                </a:solidFill>
              </a:rPr>
              <a:t>neighborhood context matters</a:t>
            </a:r>
            <a:r>
              <a:rPr lang="en" sz="1100">
                <a:solidFill>
                  <a:schemeClr val="dk1"/>
                </a:solidFill>
              </a:rPr>
              <a:t>: ZIP codes with higher poverty, higher renter share, and more racially diverse populations are more likely to be classified as “slow-response” areas (&gt;10 minutes).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Machine-learning models predict slow-response ZIP codes with </a:t>
            </a:r>
            <a:r>
              <a:rPr b="1" lang="en" sz="1100">
                <a:solidFill>
                  <a:schemeClr val="dk1"/>
                </a:solidFill>
              </a:rPr>
              <a:t>strong out-of-sample performance</a:t>
            </a:r>
            <a:r>
              <a:rPr lang="en" sz="1100">
                <a:solidFill>
                  <a:schemeClr val="dk1"/>
                </a:solidFill>
              </a:rPr>
              <a:t> (Logistic/RF AUC ≈ 0.85, Gradient Boosting AUC ≈ 0.91), confirming that these inequalities are systematic and measurable.</a:t>
            </a:r>
            <a:endParaRPr/>
          </a:p>
        </p:txBody>
      </p:sp>
      <p:pic>
        <p:nvPicPr>
          <p:cNvPr id="145" name="Google Shape;145;p25"/>
          <p:cNvPicPr preferRelativeResize="0"/>
          <p:nvPr/>
        </p:nvPicPr>
        <p:blipFill rotWithShape="1">
          <a:blip r:embed="rId3">
            <a:alphaModFix/>
          </a:blip>
          <a:srcRect b="54417" l="0" r="0" t="4222"/>
          <a:stretch/>
        </p:blipFill>
        <p:spPr>
          <a:xfrm>
            <a:off x="4172100" y="2442725"/>
            <a:ext cx="4920599" cy="1214126"/>
          </a:xfrm>
          <a:prstGeom prst="rect">
            <a:avLst/>
          </a:prstGeom>
          <a:noFill/>
          <a:ln>
            <a:noFill/>
          </a:ln>
        </p:spPr>
      </p:pic>
      <p:sp>
        <p:nvSpPr>
          <p:cNvPr id="146" name="Google Shape;146;p25"/>
          <p:cNvSpPr txBox="1"/>
          <p:nvPr/>
        </p:nvSpPr>
        <p:spPr>
          <a:xfrm>
            <a:off x="5487225" y="2064500"/>
            <a:ext cx="30000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100">
                <a:solidFill>
                  <a:schemeClr val="dk1"/>
                </a:solidFill>
              </a:rPr>
              <a:t>Top 10 Feature Importance</a:t>
            </a:r>
            <a:endParaRPr sz="1800">
              <a:solidFill>
                <a:schemeClr val="dk2"/>
              </a:solidFill>
            </a:endParaRPr>
          </a:p>
        </p:txBody>
      </p:sp>
      <p:pic>
        <p:nvPicPr>
          <p:cNvPr id="147" name="Google Shape;147;p25"/>
          <p:cNvPicPr preferRelativeResize="0"/>
          <p:nvPr/>
        </p:nvPicPr>
        <p:blipFill rotWithShape="1">
          <a:blip r:embed="rId3">
            <a:alphaModFix/>
          </a:blip>
          <a:srcRect b="10155" l="82742" r="1379" t="78483"/>
          <a:stretch/>
        </p:blipFill>
        <p:spPr>
          <a:xfrm>
            <a:off x="8228925" y="3266850"/>
            <a:ext cx="603374" cy="257550"/>
          </a:xfrm>
          <a:prstGeom prst="rect">
            <a:avLst/>
          </a:prstGeom>
          <a:noFill/>
          <a:ln>
            <a:noFill/>
          </a:ln>
        </p:spPr>
      </p:pic>
      <p:sp>
        <p:nvSpPr>
          <p:cNvPr id="148" name="Google Shape;148;p25"/>
          <p:cNvSpPr txBox="1"/>
          <p:nvPr/>
        </p:nvSpPr>
        <p:spPr>
          <a:xfrm>
            <a:off x="2312050" y="445025"/>
            <a:ext cx="66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chemeClr val="accent4"/>
                </a:solidFill>
              </a:rPr>
              <a:t>Neighborhood race, housing, and poverty metrics predict slow EMS response more strongly than demand volume alone.</a:t>
            </a:r>
            <a:endParaRPr b="1" i="1" sz="1200">
              <a:solidFill>
                <a:schemeClr val="accent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1268300" y="1017725"/>
            <a:ext cx="6987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sz="1200">
                <a:solidFill>
                  <a:schemeClr val="accent4"/>
                </a:solidFill>
              </a:rPr>
              <a:t>Predictive risk scores + social vulnerability maps = a clear playbook for EMS equity targeting.</a:t>
            </a:r>
            <a:endParaRPr b="1" i="1" sz="1200">
              <a:solidFill>
                <a:schemeClr val="accent4"/>
              </a:solidFill>
            </a:endParaRPr>
          </a:p>
        </p:txBody>
      </p:sp>
      <p:sp>
        <p:nvSpPr>
          <p:cNvPr id="154" name="Google Shape;154;p26"/>
          <p:cNvSpPr txBox="1"/>
          <p:nvPr>
            <p:ph idx="1" type="body"/>
          </p:nvPr>
        </p:nvSpPr>
        <p:spPr>
          <a:xfrm>
            <a:off x="311700" y="2028100"/>
            <a:ext cx="3360000" cy="21441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b="1" lang="en" sz="1200">
                <a:solidFill>
                  <a:schemeClr val="dk1"/>
                </a:solidFill>
              </a:rPr>
              <a:t>Prioritize high-risk, high-need neighborhoods.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Build equity metrics into EMS performance dashboards.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Inform strategic planning and scenario analysis.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Support cross-agency interventions.</a:t>
            </a:r>
            <a:endParaRPr sz="1200"/>
          </a:p>
        </p:txBody>
      </p:sp>
      <p:pic>
        <p:nvPicPr>
          <p:cNvPr id="155" name="Google Shape;155;p26"/>
          <p:cNvPicPr preferRelativeResize="0"/>
          <p:nvPr/>
        </p:nvPicPr>
        <p:blipFill>
          <a:blip r:embed="rId3">
            <a:alphaModFix/>
          </a:blip>
          <a:stretch>
            <a:fillRect/>
          </a:stretch>
        </p:blipFill>
        <p:spPr>
          <a:xfrm>
            <a:off x="4824525" y="1811463"/>
            <a:ext cx="3875625" cy="2946675"/>
          </a:xfrm>
          <a:prstGeom prst="rect">
            <a:avLst/>
          </a:prstGeom>
          <a:noFill/>
          <a:ln>
            <a:noFill/>
          </a:ln>
        </p:spPr>
      </p:pic>
      <p:sp>
        <p:nvSpPr>
          <p:cNvPr id="156" name="Google Shape;156;p26"/>
          <p:cNvSpPr txBox="1"/>
          <p:nvPr/>
        </p:nvSpPr>
        <p:spPr>
          <a:xfrm>
            <a:off x="5495300" y="1442163"/>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Risk × Vulnerability Quadrant Scatter</a:t>
            </a:r>
            <a:endParaRPr sz="1200"/>
          </a:p>
        </p:txBody>
      </p:sp>
      <p:sp>
        <p:nvSpPr>
          <p:cNvPr id="157" name="Google Shape;15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interpretation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